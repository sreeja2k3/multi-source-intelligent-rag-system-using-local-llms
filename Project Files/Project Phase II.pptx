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82" r:id="rId4"/>
    <p:sldId id="258" r:id="rId5"/>
    <p:sldId id="259" r:id="rId6"/>
    <p:sldId id="285" r:id="rId7"/>
    <p:sldId id="260" r:id="rId8"/>
    <p:sldId id="286" r:id="rId9"/>
    <p:sldId id="294" r:id="rId10"/>
    <p:sldId id="293" r:id="rId11"/>
    <p:sldId id="262" r:id="rId12"/>
    <p:sldId id="263" r:id="rId13"/>
    <p:sldId id="287" r:id="rId14"/>
    <p:sldId id="289" r:id="rId15"/>
    <p:sldId id="288" r:id="rId16"/>
    <p:sldId id="290" r:id="rId17"/>
    <p:sldId id="291" r:id="rId18"/>
    <p:sldId id="295" r:id="rId19"/>
    <p:sldId id="296" r:id="rId20"/>
    <p:sldId id="298" r:id="rId21"/>
    <p:sldId id="299" r:id="rId22"/>
    <p:sldId id="300" r:id="rId23"/>
    <p:sldId id="302" r:id="rId24"/>
    <p:sldId id="284" r:id="rId25"/>
    <p:sldId id="269" r:id="rId26"/>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61"/>
    <p:restoredTop sz="94660"/>
  </p:normalViewPr>
  <p:slideViewPr>
    <p:cSldViewPr snapToGrid="0" showGuides="1">
      <p:cViewPr varScale="1">
        <p:scale>
          <a:sx n="70" d="100"/>
          <a:sy n="70" d="100"/>
        </p:scale>
        <p:origin x="704" y="36"/>
      </p:cViewPr>
      <p:guideLst>
        <p:guide orient="horz" pos="2160"/>
        <p:guide pos="3840"/>
      </p:guideLst>
    </p:cSldViewPr>
  </p:slideViewPr>
  <p:notesTextViewPr>
    <p:cViewPr>
      <p:scale>
        <a:sx n="1" d="1"/>
        <a:sy n="1" d="1"/>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F395FB5B-B995-4ACE-9B50-70176FD534C9}" type="datetimeFigureOut">
              <a:rPr kumimoji="0" lang="en-IN" sz="1200" b="0" i="0" u="none" strike="noStrike" kern="1200" cap="none" spc="0" normalizeH="0" baseline="0" noProof="0">
                <a:ln>
                  <a:noFill/>
                </a:ln>
                <a:solidFill>
                  <a:schemeClr val="tx1"/>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IN" altLang="en-US" sz="1200" dirty="0"/>
              <a:t>‹#›</a:t>
            </a:fld>
            <a:endParaRPr lang="en-I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ectangle 2"/>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schemeClr val="tx1"/>
                </a:solidFill>
                <a:effectLst/>
                <a:uLnTx/>
                <a:uFillTx/>
                <a:latin typeface="+mn-lt"/>
                <a:ea typeface="+mn-ea"/>
                <a:cs typeface="+mn-cs"/>
              </a:rPr>
              <a:t>MRCET | Department of Emerging Technologies | Application Development-II PPT| III Year </a:t>
            </a:r>
            <a:r>
              <a:rPr kumimoji="0" lang="en-IN" sz="1800" b="0" i="0" u="none" strike="noStrike" kern="1200" cap="none" spc="0" normalizeH="0" baseline="0" noProof="0" dirty="0" err="1">
                <a:ln>
                  <a:noFill/>
                </a:ln>
                <a:solidFill>
                  <a:schemeClr val="tx1"/>
                </a:solidFill>
                <a:effectLst/>
                <a:uLnTx/>
                <a:uFillTx/>
                <a:latin typeface="+mn-lt"/>
                <a:ea typeface="+mn-ea"/>
                <a:cs typeface="+mn-cs"/>
              </a:rPr>
              <a:t>B.Tech</a:t>
            </a:r>
            <a:r>
              <a:rPr kumimoji="0" lang="en-IN" sz="1800" b="0" i="0" u="none" strike="noStrike" kern="1200" cap="none" spc="0" normalizeH="0" baseline="0" noProof="0" dirty="0">
                <a:ln>
                  <a:noFill/>
                </a:ln>
                <a:solidFill>
                  <a:schemeClr val="tx1"/>
                </a:solidFill>
                <a:effectLst/>
                <a:uLnTx/>
                <a:uFillTx/>
                <a:latin typeface="+mn-lt"/>
                <a:ea typeface="+mn-ea"/>
                <a:cs typeface="+mn-cs"/>
              </a:rPr>
              <a:t>-II Semester</a:t>
            </a:r>
          </a:p>
        </p:txBody>
      </p:sp>
      <p:pic>
        <p:nvPicPr>
          <p:cNvPr id="2055" name="Picture 11"/>
          <p:cNvPicPr>
            <a:picLocks noChangeAspect="1"/>
          </p:cNvPicPr>
          <p:nvPr userDrawn="1"/>
        </p:nvPicPr>
        <p:blipFill>
          <a:blip r:embed="rId2"/>
          <a:stretch>
            <a:fillRect/>
          </a:stretch>
        </p:blipFill>
        <p:spPr>
          <a:xfrm>
            <a:off x="11353800" y="0"/>
            <a:ext cx="822325" cy="822325"/>
          </a:xfrm>
          <a:prstGeom prst="rect">
            <a:avLst/>
          </a:prstGeom>
          <a:noFill/>
          <a:ln w="9525">
            <a:noFill/>
          </a:ln>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10"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49A97F5-51D5-48C9-A04B-694D7E97DD50}"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Slide Number Placeholder 5"/>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en-IN" altLang="en-US" dirty="0"/>
              <a:t>‹#›</a:t>
            </a:fld>
            <a:endParaRPr lang="en-I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en-US" altLang="en-US" dirty="0"/>
              <a:t>Click to edit Master title style</a:t>
            </a:r>
            <a:endParaRPr lang="en-IN" altLang="en-US" dirty="0"/>
          </a:p>
        </p:txBody>
      </p:sp>
      <p:sp>
        <p:nvSpPr>
          <p:cNvPr id="1027" name="Text Placeholder 2"/>
          <p:cNvSpPr>
            <a:spLocks noGrp="1"/>
          </p:cNvSpPr>
          <p:nvPr>
            <p:ph type="body"/>
          </p:nvPr>
        </p:nvSpPr>
        <p:spPr>
          <a:xfrm>
            <a:off x="838200" y="1825625"/>
            <a:ext cx="10515600" cy="4351338"/>
          </a:xfrm>
          <a:prstGeom prst="rect">
            <a:avLst/>
          </a:prstGeom>
          <a:noFill/>
          <a:ln w="9525">
            <a:noFill/>
          </a:ln>
        </p:spPr>
        <p:txBody>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08C0569-B07D-455D-9CB4-F21C7ADF99F5}"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08-04-2026</a:t>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lstStyle>
            <a:lvl1pPr algn="r">
              <a:defRPr sz="1200" b="1">
                <a:solidFill>
                  <a:srgbClr val="C00000"/>
                </a:solidFill>
              </a:defRPr>
            </a:lvl1pPr>
          </a:lstStyle>
          <a:p>
            <a:pPr lvl="0" eaLnBrk="1" hangingPunct="1">
              <a:buNone/>
            </a:pPr>
            <a:fld id="{9A0DB2DC-4C9A-4742-B13C-FB6460FD3503}" type="slidenum">
              <a:rPr lang="en-IN" altLang="en-US" dirty="0">
                <a:latin typeface="Calibri" panose="020F0502020204030204" pitchFamily="34" charset="0"/>
              </a:rPr>
              <a:t>‹#›</a:t>
            </a:fld>
            <a:endParaRPr lang="en-IN" altLang="en-US" dirty="0">
              <a:latin typeface="Calibri" panose="020F0502020204030204" pitchFamily="34" charset="0"/>
            </a:endParaRPr>
          </a:p>
        </p:txBody>
      </p:sp>
      <p:sp>
        <p:nvSpPr>
          <p:cNvPr id="7" name="Rectangle 6"/>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7"/>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800" b="0" i="0" u="none" strike="noStrike" kern="1200" cap="none" spc="0" normalizeH="0" baseline="0" noProof="0" dirty="0">
                <a:ln>
                  <a:noFill/>
                </a:ln>
                <a:solidFill>
                  <a:schemeClr val="tx1"/>
                </a:solidFill>
                <a:effectLst/>
                <a:uLnTx/>
                <a:uFillTx/>
                <a:latin typeface="+mn-lt"/>
                <a:ea typeface="+mn-ea"/>
                <a:cs typeface="+mn-cs"/>
              </a:rPr>
              <a:t>MRCET | Department of Emerging Technologies | Application Development-II PPT| III Year </a:t>
            </a:r>
            <a:r>
              <a:rPr kumimoji="0" lang="en-IN" sz="1800" b="0" i="0" u="none" strike="noStrike" kern="1200" cap="none" spc="0" normalizeH="0" baseline="0" noProof="0" dirty="0" err="1">
                <a:ln>
                  <a:noFill/>
                </a:ln>
                <a:solidFill>
                  <a:schemeClr val="tx1"/>
                </a:solidFill>
                <a:effectLst/>
                <a:uLnTx/>
                <a:uFillTx/>
                <a:latin typeface="+mn-lt"/>
                <a:ea typeface="+mn-ea"/>
                <a:cs typeface="+mn-cs"/>
              </a:rPr>
              <a:t>B.Tech</a:t>
            </a:r>
            <a:r>
              <a:rPr kumimoji="0" lang="en-IN" sz="1800" b="0" i="0" u="none" strike="noStrike" kern="1200" cap="none" spc="0" normalizeH="0" baseline="0" noProof="0" dirty="0">
                <a:ln>
                  <a:noFill/>
                </a:ln>
                <a:solidFill>
                  <a:schemeClr val="tx1"/>
                </a:solidFill>
                <a:effectLst/>
                <a:uLnTx/>
                <a:uFillTx/>
                <a:latin typeface="+mn-lt"/>
                <a:ea typeface="+mn-ea"/>
                <a:cs typeface="+mn-cs"/>
              </a:rPr>
              <a:t>-II Semester</a:t>
            </a:r>
          </a:p>
        </p:txBody>
      </p:sp>
      <p:pic>
        <p:nvPicPr>
          <p:cNvPr id="1033" name="Picture 8"/>
          <p:cNvPicPr>
            <a:picLocks noChangeAspect="1"/>
          </p:cNvPicPr>
          <p:nvPr userDrawn="1"/>
        </p:nvPicPr>
        <p:blipFill>
          <a:blip r:embed="rId13"/>
          <a:stretch>
            <a:fillRect/>
          </a:stretch>
        </p:blipFill>
        <p:spPr>
          <a:xfrm>
            <a:off x="11353800" y="0"/>
            <a:ext cx="822325" cy="822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1"/>
          <p:cNvSpPr>
            <a:spLocks noGrp="1"/>
          </p:cNvSpPr>
          <p:nvPr>
            <p:ph type="ctrTitle"/>
          </p:nvPr>
        </p:nvSpPr>
        <p:spPr>
          <a:xfrm>
            <a:off x="1708150" y="420688"/>
            <a:ext cx="9191625" cy="1016000"/>
          </a:xfrm>
        </p:spPr>
        <p:txBody>
          <a:bodyPr vert="horz" wrap="square" lIns="91440" tIns="45720" rIns="91440" bIns="45720" anchor="b" anchorCtr="0"/>
          <a:lstStyle/>
          <a:p>
            <a:pPr eaLnBrk="1" hangingPunct="1">
              <a:buClrTx/>
              <a:buSzTx/>
              <a:buFontTx/>
            </a:pPr>
            <a:r>
              <a:rPr lang="en-US" altLang="en-US" sz="2800" b="1" kern="1200" dirty="0">
                <a:solidFill>
                  <a:srgbClr val="2F5496"/>
                </a:solidFill>
                <a:latin typeface="Calibri" panose="020F0502020204030204" pitchFamily="34" charset="0"/>
                <a:ea typeface="+mj-ea"/>
                <a:cs typeface="Calibri" panose="020F0502020204030204" pitchFamily="34" charset="0"/>
              </a:rPr>
              <a:t>MALLA REDDY COLLEGE OF ENGINEERING &amp; TECHNOLOGY</a:t>
            </a:r>
            <a:br>
              <a:rPr lang="en-US" altLang="en-US" sz="28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(AUTONOMUS INSTITUTION –UGC, GOVT. OF INDIA)</a:t>
            </a:r>
            <a:br>
              <a:rPr lang="en-US" altLang="en-US" sz="14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Affiliated to JNTUH; Approved by AICTE, NBA-Tier 1 &amp; NAAC with A-GRADE| ISO 9001:2015</a:t>
            </a:r>
            <a:endParaRPr lang="en-US" altLang="en-IN" sz="2000" b="1" kern="1200" dirty="0">
              <a:latin typeface="Calibri" panose="020F0502020204030204" pitchFamily="34" charset="0"/>
              <a:ea typeface="+mj-ea"/>
              <a:cs typeface="+mj-cs"/>
            </a:endParaRPr>
          </a:p>
        </p:txBody>
      </p:sp>
      <p:sp>
        <p:nvSpPr>
          <p:cNvPr id="4100" name="Slide Number Placeholder 3"/>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a:t>
            </a:fld>
            <a:endParaRPr lang="en-IN" altLang="en-US" sz="1200" b="1" dirty="0">
              <a:solidFill>
                <a:srgbClr val="C00000"/>
              </a:solidFill>
            </a:endParaRPr>
          </a:p>
        </p:txBody>
      </p:sp>
      <p:sp>
        <p:nvSpPr>
          <p:cNvPr id="5"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B.Tech IV Year – I</a:t>
            </a:r>
            <a:r>
              <a:rPr lang="en-IN" sz="1600" b="1" dirty="0">
                <a:solidFill>
                  <a:schemeClr val="tx1"/>
                </a:solidFill>
                <a:latin typeface="Arial Rounded MT Bold" pitchFamily="34" charset="0"/>
              </a:rPr>
              <a:t>I</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Sem | Dept of Computational Intelligence| </a:t>
            </a:r>
            <a:r>
              <a:rPr lang="en-IN" sz="1600" b="1" dirty="0">
                <a:solidFill>
                  <a:schemeClr val="tx1"/>
                </a:solidFill>
                <a:latin typeface="Arial Rounded MT Bold" pitchFamily="34" charset="0"/>
              </a:rPr>
              <a:t>Project Phase - II</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 Project Review</a:t>
            </a:r>
          </a:p>
        </p:txBody>
      </p:sp>
      <p:pic>
        <p:nvPicPr>
          <p:cNvPr id="4102" name="Picture 5"/>
          <p:cNvPicPr>
            <a:picLocks noChangeAspect="1"/>
          </p:cNvPicPr>
          <p:nvPr/>
        </p:nvPicPr>
        <p:blipFill>
          <a:blip r:embed="rId2"/>
          <a:stretch>
            <a:fillRect/>
          </a:stretch>
        </p:blipFill>
        <p:spPr>
          <a:xfrm>
            <a:off x="301625" y="265113"/>
            <a:ext cx="1452563" cy="1452562"/>
          </a:xfrm>
          <a:prstGeom prst="rect">
            <a:avLst/>
          </a:prstGeom>
          <a:noFill/>
          <a:ln w="9525">
            <a:noFill/>
          </a:ln>
        </p:spPr>
      </p:pic>
      <p:sp>
        <p:nvSpPr>
          <p:cNvPr id="7"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8" name="Rectangle 7"/>
          <p:cNvSpPr/>
          <p:nvPr/>
        </p:nvSpPr>
        <p:spPr>
          <a:xfrm>
            <a:off x="11261725" y="269875"/>
            <a:ext cx="914400" cy="5508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4105" name="Picture 9"/>
          <p:cNvPicPr>
            <a:picLocks noChangeAspect="1"/>
          </p:cNvPicPr>
          <p:nvPr/>
        </p:nvPicPr>
        <p:blipFill>
          <a:blip r:embed="rId3"/>
          <a:stretch>
            <a:fillRect/>
          </a:stretch>
        </p:blipFill>
        <p:spPr>
          <a:xfrm>
            <a:off x="10545763" y="265113"/>
            <a:ext cx="1571625" cy="1573212"/>
          </a:xfrm>
          <a:prstGeom prst="rect">
            <a:avLst/>
          </a:prstGeom>
          <a:noFill/>
          <a:ln w="9525">
            <a:noFill/>
          </a:ln>
        </p:spPr>
      </p:pic>
      <p:sp>
        <p:nvSpPr>
          <p:cNvPr id="6" name="Subtitle 2">
            <a:extLst>
              <a:ext uri="{FF2B5EF4-FFF2-40B4-BE49-F238E27FC236}">
                <a16:creationId xmlns:a16="http://schemas.microsoft.com/office/drawing/2014/main" id="{1B0F5485-7EA3-C59F-113F-97CCDAA502B4}"/>
              </a:ext>
            </a:extLst>
          </p:cNvPr>
          <p:cNvSpPr>
            <a:spLocks noGrp="1"/>
          </p:cNvSpPr>
          <p:nvPr>
            <p:ph type="subTitle" idx="1"/>
          </p:nvPr>
        </p:nvSpPr>
        <p:spPr>
          <a:xfrm>
            <a:off x="1611312" y="1436688"/>
            <a:ext cx="9385300" cy="5021262"/>
          </a:xfrm>
        </p:spPr>
        <p:txBody>
          <a:bodyPr vert="horz" wrap="square" lIns="91440" tIns="45720" rIns="91440" bIns="45720" numCol="1" anchor="t" anchorCtr="0" compatLnSpc="1">
            <a:noAutofit/>
          </a:bodyPr>
          <a:lstStyle/>
          <a:p>
            <a:pPr lvl="0" eaLnBrk="1" hangingPunct="1">
              <a:defRPr/>
            </a:pPr>
            <a:r>
              <a:rPr lang="en-US" sz="3500" b="1" dirty="0">
                <a:latin typeface="Times New Roman" panose="02020603050405020304" pitchFamily="18" charset="0"/>
                <a:cs typeface="Times New Roman" panose="02020603050405020304" pitchFamily="18" charset="0"/>
              </a:rPr>
              <a:t>MULTI-SOURCE INTELLIGENT RETRIEVAL AUGMENTED GENERATION SYSTEM USING LOCAL LLM</a:t>
            </a:r>
            <a:endParaRPr kumimoji="0" lang="en-US" altLang="en-US" sz="35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en-IN" altLang="en-US" sz="2400" b="1" i="0" u="none" strike="noStrike" kern="1200" cap="none" spc="0" normalizeH="0" baseline="0" noProof="0" dirty="0">
                <a:ln>
                  <a:noFill/>
                </a:ln>
                <a:solidFill>
                  <a:srgbClr val="FF0000"/>
                </a:solidFill>
                <a:effectLst/>
                <a:uLnTx/>
                <a:uFillTx/>
                <a:latin typeface="+mn-lt"/>
                <a:ea typeface="+mn-ea"/>
                <a:cs typeface="+mn-cs"/>
              </a:rPr>
              <a:t>Team Members Details</a:t>
            </a:r>
          </a:p>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1.</a:t>
            </a:r>
            <a:r>
              <a:rPr lang="en-US" altLang="en-IN" b="1" dirty="0" err="1"/>
              <a:t>R.Koushik</a:t>
            </a:r>
            <a:r>
              <a:rPr lang="en-US" altLang="en-IN" b="1" dirty="0"/>
              <a:t>       </a:t>
            </a:r>
            <a:r>
              <a:rPr kumimoji="0" lang="en-IN" altLang="en-US" sz="2400" b="1" i="0" u="none" strike="noStrike" kern="1200" cap="none" spc="0" normalizeH="0" baseline="0" noProof="0" dirty="0">
                <a:ln>
                  <a:noFill/>
                </a:ln>
                <a:solidFill>
                  <a:schemeClr val="tx1"/>
                </a:solidFill>
                <a:effectLst/>
                <a:uLnTx/>
                <a:uFillTx/>
                <a:latin typeface="+mn-lt"/>
                <a:ea typeface="+mn-ea"/>
                <a:cs typeface="+mn-cs"/>
              </a:rPr>
              <a:t>–2</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2</a:t>
            </a:r>
            <a:r>
              <a:rPr kumimoji="0" lang="en-IN" altLang="en-US" sz="2400" b="1" i="0" u="none" strike="noStrike" kern="1200" cap="none" spc="0" normalizeH="0" baseline="0" noProof="0" dirty="0">
                <a:ln>
                  <a:noFill/>
                </a:ln>
                <a:solidFill>
                  <a:schemeClr val="tx1"/>
                </a:solidFill>
                <a:effectLst/>
                <a:uLnTx/>
                <a:uFillTx/>
                <a:latin typeface="+mn-lt"/>
                <a:ea typeface="+mn-ea"/>
                <a:cs typeface="+mn-cs"/>
              </a:rPr>
              <a:t>N31A</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66F3</a:t>
            </a:r>
            <a:endParaRPr kumimoji="0" lang="en-IN" altLang="en-US"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2.</a:t>
            </a:r>
            <a:r>
              <a:rPr lang="en-US" altLang="en-IN" b="1" dirty="0" err="1"/>
              <a:t>V.Sreeja</a:t>
            </a:r>
            <a:r>
              <a:rPr lang="en-US" altLang="en-IN" b="1" dirty="0"/>
              <a:t> </a:t>
            </a:r>
            <a:r>
              <a:rPr kumimoji="0" lang="en-IN" altLang="en-US" sz="2400" b="1" i="0" u="none" strike="noStrike" kern="1200" cap="none" spc="0" normalizeH="0" baseline="0" noProof="0" dirty="0">
                <a:ln>
                  <a:noFill/>
                </a:ln>
                <a:solidFill>
                  <a:schemeClr val="tx1"/>
                </a:solidFill>
                <a:effectLst/>
                <a:uLnTx/>
                <a:uFillTx/>
                <a:latin typeface="+mn-lt"/>
                <a:ea typeface="+mn-ea"/>
                <a:cs typeface="+mn-cs"/>
              </a:rPr>
              <a:t>         –2</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2</a:t>
            </a:r>
            <a:r>
              <a:rPr kumimoji="0" lang="en-IN" altLang="en-US" sz="2400" b="1" i="0" u="none" strike="noStrike" kern="1200" cap="none" spc="0" normalizeH="0" baseline="0" noProof="0" dirty="0">
                <a:ln>
                  <a:noFill/>
                </a:ln>
                <a:solidFill>
                  <a:schemeClr val="tx1"/>
                </a:solidFill>
                <a:effectLst/>
                <a:uLnTx/>
                <a:uFillTx/>
                <a:latin typeface="+mn-lt"/>
                <a:ea typeface="+mn-ea"/>
                <a:cs typeface="+mn-cs"/>
              </a:rPr>
              <a:t>N31A</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66J0</a:t>
            </a:r>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3.S</a:t>
            </a:r>
            <a:r>
              <a:rPr lang="en-US" altLang="en-IN" b="1" dirty="0"/>
              <a:t>.Vennela     </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  </a:t>
            </a:r>
            <a:r>
              <a:rPr kumimoji="0" lang="en-IN" altLang="en-US" sz="2400" b="1" i="0" u="none" strike="noStrike" kern="1200" cap="none" spc="0" normalizeH="0" baseline="0" noProof="0" dirty="0">
                <a:ln>
                  <a:noFill/>
                </a:ln>
                <a:solidFill>
                  <a:schemeClr val="tx1"/>
                </a:solidFill>
                <a:effectLst/>
                <a:uLnTx/>
                <a:uFillTx/>
                <a:latin typeface="+mn-lt"/>
                <a:ea typeface="+mn-ea"/>
                <a:cs typeface="+mn-cs"/>
              </a:rPr>
              <a:t>–2</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2</a:t>
            </a:r>
            <a:r>
              <a:rPr kumimoji="0" lang="en-IN" altLang="en-US" sz="2400" b="1" i="0" u="none" strike="noStrike" kern="1200" cap="none" spc="0" normalizeH="0" baseline="0" noProof="0" dirty="0">
                <a:ln>
                  <a:noFill/>
                </a:ln>
                <a:solidFill>
                  <a:schemeClr val="tx1"/>
                </a:solidFill>
                <a:effectLst/>
                <a:uLnTx/>
                <a:uFillTx/>
                <a:latin typeface="+mn-lt"/>
                <a:ea typeface="+mn-ea"/>
                <a:cs typeface="+mn-cs"/>
              </a:rPr>
              <a:t>N31A</a:t>
            </a:r>
            <a:r>
              <a:rPr kumimoji="0" lang="en-US" altLang="en-IN" sz="2400" b="1" i="0" u="none" strike="noStrike" kern="1200" cap="none" spc="0" normalizeH="0" baseline="0" noProof="0" dirty="0">
                <a:ln>
                  <a:noFill/>
                </a:ln>
                <a:solidFill>
                  <a:schemeClr val="tx1"/>
                </a:solidFill>
                <a:effectLst/>
                <a:uLnTx/>
                <a:uFillTx/>
                <a:latin typeface="+mn-lt"/>
                <a:ea typeface="+mn-ea"/>
                <a:cs typeface="+mn-cs"/>
              </a:rPr>
              <a:t>66J4</a:t>
            </a:r>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endParaRPr kumimoji="0" lang="en-US" altLang="en-I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r>
              <a:rPr kumimoji="0" lang="en-IN" altLang="en-US" sz="2400" b="0" i="0" u="none" strike="noStrike" kern="1200" cap="none" spc="0" normalizeH="0" baseline="0" noProof="0" dirty="0">
                <a:ln>
                  <a:noFill/>
                </a:ln>
                <a:solidFill>
                  <a:schemeClr val="tx1"/>
                </a:solidFill>
                <a:effectLst/>
                <a:uLnTx/>
                <a:uFillTx/>
                <a:latin typeface="+mn-lt"/>
                <a:ea typeface="+mn-ea"/>
                <a:cs typeface="+mn-cs"/>
              </a:rPr>
              <a:t>I</a:t>
            </a:r>
            <a:r>
              <a:rPr lang="en-IN" altLang="en-US" dirty="0"/>
              <a:t>V</a:t>
            </a:r>
            <a:r>
              <a:rPr kumimoji="0" lang="en-IN" altLang="en-US" sz="2400" b="0" i="0" u="none" strike="noStrike" kern="1200" cap="none" spc="0" normalizeH="0" baseline="0" noProof="0" dirty="0">
                <a:ln>
                  <a:noFill/>
                </a:ln>
                <a:solidFill>
                  <a:schemeClr val="tx1"/>
                </a:solidFill>
                <a:effectLst/>
                <a:uLnTx/>
                <a:uFillTx/>
                <a:latin typeface="+mn-lt"/>
                <a:ea typeface="+mn-ea"/>
                <a:cs typeface="+mn-cs"/>
              </a:rPr>
              <a:t> Year </a:t>
            </a:r>
            <a:r>
              <a:rPr kumimoji="0" lang="en-IN" altLang="en-US" sz="2400" b="0" i="0" u="none" strike="noStrike" kern="1200" cap="none" spc="0" normalizeH="0" baseline="0" noProof="0" dirty="0" err="1">
                <a:ln>
                  <a:noFill/>
                </a:ln>
                <a:solidFill>
                  <a:schemeClr val="tx1"/>
                </a:solidFill>
                <a:effectLst/>
                <a:uLnTx/>
                <a:uFillTx/>
                <a:latin typeface="+mn-lt"/>
                <a:ea typeface="+mn-ea"/>
                <a:cs typeface="+mn-cs"/>
              </a:rPr>
              <a:t>B.Tech</a:t>
            </a:r>
            <a:r>
              <a:rPr kumimoji="0" lang="en-IN" altLang="en-US" sz="2400" b="0" i="0" u="none" strike="noStrike" kern="1200" cap="none" spc="0" normalizeH="0" baseline="0" noProof="0" dirty="0">
                <a:ln>
                  <a:noFill/>
                </a:ln>
                <a:solidFill>
                  <a:schemeClr val="tx1"/>
                </a:solidFill>
                <a:effectLst/>
                <a:uLnTx/>
                <a:uFillTx/>
                <a:latin typeface="+mn-lt"/>
                <a:ea typeface="+mn-ea"/>
                <a:cs typeface="+mn-cs"/>
              </a:rPr>
              <a:t>-I Semester – CSE (</a:t>
            </a:r>
            <a:r>
              <a:rPr kumimoji="0" lang="en-US" altLang="en-IN" sz="2400" b="0" i="0" u="none" strike="noStrike" kern="1200" cap="none" spc="0" normalizeH="0" baseline="0" noProof="0" dirty="0">
                <a:ln>
                  <a:noFill/>
                </a:ln>
                <a:solidFill>
                  <a:schemeClr val="tx1"/>
                </a:solidFill>
                <a:effectLst/>
                <a:uLnTx/>
                <a:uFillTx/>
                <a:latin typeface="+mn-lt"/>
                <a:ea typeface="+mn-ea"/>
                <a:cs typeface="+mn-cs"/>
              </a:rPr>
              <a:t>AIML</a:t>
            </a:r>
            <a:r>
              <a:rPr kumimoji="0" lang="en-IN" altLang="en-US" sz="2400" b="0" i="0" u="none" strike="noStrike" kern="1200" cap="none" spc="0" normalizeH="0" baseline="0" noProof="0" dirty="0">
                <a:ln>
                  <a:noFill/>
                </a:ln>
                <a:solidFill>
                  <a:schemeClr val="tx1"/>
                </a:solidFill>
                <a:effectLst/>
                <a:uLnTx/>
                <a:uFillTx/>
                <a:latin typeface="+mn-lt"/>
                <a:ea typeface="+mn-ea"/>
                <a:cs typeface="+mn-cs"/>
              </a:rPr>
              <a:t>)</a:t>
            </a:r>
          </a:p>
          <a:p>
            <a:pPr marL="0" marR="0" lvl="0" indent="0" algn="ctr"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endParaRPr kumimoji="0" lang="en-IN" altLang="en-US" sz="16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Under the Guidance of</a:t>
            </a:r>
            <a:r>
              <a:rPr kumimoji="0" lang="en-US" altLang="en-IN" sz="2400" b="1" i="0" u="none" strike="noStrike" kern="1200" cap="none" spc="0" normalizeH="0" baseline="0" noProof="0" dirty="0">
                <a:ln>
                  <a:noFill/>
                </a:ln>
                <a:solidFill>
                  <a:srgbClr val="FF0000"/>
                </a:solidFill>
                <a:effectLst/>
                <a:uLnTx/>
                <a:uFillTx/>
                <a:latin typeface="+mn-lt"/>
                <a:ea typeface="+mn-ea"/>
                <a:cs typeface="+mn-cs"/>
              </a:rPr>
              <a:t> </a:t>
            </a:r>
          </a:p>
          <a:p>
            <a:pPr lvl="0" eaLnBrk="1" hangingPunct="1">
              <a:lnSpc>
                <a:spcPct val="50000"/>
              </a:lnSpc>
              <a:defRPr/>
            </a:pPr>
            <a:r>
              <a:rPr lang="en-US" b="1" dirty="0">
                <a:solidFill>
                  <a:srgbClr val="FF0000"/>
                </a:solidFill>
                <a:latin typeface="Times New Roman" panose="02020603050405020304" pitchFamily="18" charset="0"/>
                <a:cs typeface="Times New Roman" panose="02020603050405020304" pitchFamily="18" charset="0"/>
              </a:rPr>
              <a:t>Dr. T. Shiva Ratna Sai</a:t>
            </a:r>
            <a:endParaRPr kumimoji="0" lang="en-US" altLang="en-IN" sz="2400" b="1" i="0" u="none" strike="noStrike" kern="1200" cap="none" spc="0" normalizeH="0" baseline="0" noProof="0" dirty="0">
              <a:ln>
                <a:noFill/>
              </a:ln>
              <a:solidFill>
                <a:srgbClr val="FF0000"/>
              </a:solidFill>
              <a:effectLst/>
              <a:uLnTx/>
              <a:uFillTx/>
              <a:latin typeface="+mn-lt"/>
              <a:ea typeface="+mn-ea"/>
              <a:cs typeface="+mn-cs"/>
            </a:endParaRPr>
          </a:p>
          <a:p>
            <a:pPr marL="0" marR="0" lvl="0" indent="0" algn="ctr"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0" i="0" u="none" strike="noStrike" kern="1200" cap="none" spc="0" normalizeH="0" baseline="0" noProof="0" dirty="0">
                <a:ln>
                  <a:noFill/>
                </a:ln>
                <a:solidFill>
                  <a:schemeClr val="tx1"/>
                </a:solidFill>
                <a:effectLst/>
                <a:uLnTx/>
                <a:uFillTx/>
                <a:latin typeface="+mn-lt"/>
                <a:ea typeface="+mn-ea"/>
                <a:cs typeface="+mn-cs"/>
              </a:rPr>
              <a:t>Associate </a:t>
            </a:r>
            <a:r>
              <a:rPr kumimoji="0" lang="en-IN" altLang="en-US" sz="2400" b="0" i="0" u="none" strike="noStrike" kern="1200" cap="none" spc="0" normalizeH="0" baseline="0" noProof="0" dirty="0">
                <a:ln>
                  <a:noFill/>
                </a:ln>
                <a:solidFill>
                  <a:schemeClr val="tx1"/>
                </a:solidFill>
                <a:effectLst/>
                <a:uLnTx/>
                <a:uFillTx/>
                <a:latin typeface="+mn-lt"/>
                <a:ea typeface="+mn-ea"/>
                <a:cs typeface="+mn-cs"/>
              </a:rPr>
              <a:t>Professor </a:t>
            </a:r>
            <a:endParaRPr kumimoji="0" lang="en-US" altLang="en-IN" sz="2400" b="1"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0835"/>
            <a:ext cx="10515600" cy="567690"/>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89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Agenda</a:t>
            </a:r>
          </a:p>
        </p:txBody>
      </p:sp>
      <p:sp>
        <p:nvSpPr>
          <p:cNvPr id="5123" name="Content Placeholder 2"/>
          <p:cNvSpPr>
            <a:spLocks noGrp="1"/>
          </p:cNvSpPr>
          <p:nvPr>
            <p:ph idx="1"/>
          </p:nvPr>
        </p:nvSpPr>
        <p:spPr>
          <a:xfrm>
            <a:off x="776605" y="1147763"/>
            <a:ext cx="10405110" cy="5101272"/>
          </a:xfrm>
        </p:spPr>
        <p:txBody>
          <a:bodyPr vert="horz" wrap="square" lIns="91440" tIns="45720" rIns="91440" bIns="45720" anchor="t" anchorCtr="0"/>
          <a:lstStyle/>
          <a:p>
            <a:pPr marL="457200" indent="-457200" eaLnBrk="1" hangingPunct="1">
              <a:buFont typeface="+mj-lt"/>
              <a:buAutoNum type="arabicPeriod"/>
            </a:pPr>
            <a:r>
              <a:rPr lang="en-US" altLang="en-IN" sz="2400" dirty="0">
                <a:latin typeface="Times New Roman" panose="02020603050405020304" pitchFamily="18" charset="0"/>
              </a:rPr>
              <a:t>Abstract</a:t>
            </a:r>
          </a:p>
          <a:p>
            <a:pPr marL="457200" indent="-457200" eaLnBrk="1" hangingPunct="1">
              <a:buFont typeface="+mj-lt"/>
              <a:buAutoNum type="arabicPeriod"/>
            </a:pPr>
            <a:r>
              <a:rPr lang="en-US" altLang="en-IN" sz="2400" dirty="0">
                <a:latin typeface="Times New Roman" panose="02020603050405020304" pitchFamily="18" charset="0"/>
              </a:rPr>
              <a:t>Introduction</a:t>
            </a:r>
          </a:p>
          <a:p>
            <a:pPr marL="457200" indent="-457200" eaLnBrk="1" hangingPunct="1">
              <a:buFont typeface="+mj-lt"/>
              <a:buAutoNum type="arabicPeriod"/>
            </a:pPr>
            <a:r>
              <a:rPr lang="en-US" altLang="en-IN" sz="2400" dirty="0">
                <a:latin typeface="Times New Roman" panose="02020603050405020304" pitchFamily="18" charset="0"/>
              </a:rPr>
              <a:t>Existing System</a:t>
            </a:r>
          </a:p>
          <a:p>
            <a:pPr marL="457200" indent="-457200" eaLnBrk="1" hangingPunct="1">
              <a:buFont typeface="+mj-lt"/>
              <a:buAutoNum type="arabicPeriod"/>
            </a:pPr>
            <a:r>
              <a:rPr lang="en-US" altLang="en-IN" sz="2400" dirty="0">
                <a:latin typeface="Times New Roman" panose="02020603050405020304" pitchFamily="18" charset="0"/>
              </a:rPr>
              <a:t>Proposed System</a:t>
            </a:r>
          </a:p>
          <a:p>
            <a:pPr marL="457200" indent="-457200" eaLnBrk="1" hangingPunct="1">
              <a:buFont typeface="+mj-lt"/>
              <a:buAutoNum type="arabicPeriod"/>
            </a:pPr>
            <a:r>
              <a:rPr lang="en-US" altLang="en-IN" sz="2400" dirty="0">
                <a:latin typeface="Times New Roman" panose="02020603050405020304" pitchFamily="18" charset="0"/>
              </a:rPr>
              <a:t>System Architecture</a:t>
            </a:r>
          </a:p>
          <a:p>
            <a:pPr marL="457200" indent="-457200" eaLnBrk="1" hangingPunct="1">
              <a:buFont typeface="+mj-lt"/>
              <a:buAutoNum type="arabicPeriod"/>
            </a:pPr>
            <a:r>
              <a:rPr lang="en-US" altLang="en-IN" sz="2400" dirty="0">
                <a:latin typeface="Times New Roman" panose="02020603050405020304" pitchFamily="18" charset="0"/>
              </a:rPr>
              <a:t>Requirements Specifications</a:t>
            </a:r>
          </a:p>
          <a:p>
            <a:pPr marL="457200" indent="-457200" eaLnBrk="1" hangingPunct="1">
              <a:buFont typeface="+mj-lt"/>
              <a:buAutoNum type="arabicPeriod"/>
            </a:pPr>
            <a:r>
              <a:rPr lang="en-US" altLang="en-IN" sz="2400" dirty="0">
                <a:latin typeface="Times New Roman" panose="02020603050405020304" pitchFamily="18" charset="0"/>
              </a:rPr>
              <a:t>System Models</a:t>
            </a:r>
          </a:p>
          <a:p>
            <a:pPr marL="457200" indent="-457200" eaLnBrk="1" hangingPunct="1">
              <a:buFont typeface="+mj-lt"/>
              <a:buAutoNum type="arabicPeriod"/>
            </a:pPr>
            <a:r>
              <a:rPr lang="en-IN" sz="2400" dirty="0">
                <a:latin typeface="Times New Roman" panose="02020603050405020304" pitchFamily="18" charset="0"/>
                <a:cs typeface="Times New Roman" panose="02020603050405020304" pitchFamily="18" charset="0"/>
              </a:rPr>
              <a:t>Implementation</a:t>
            </a:r>
            <a:endParaRPr lang="en-US" altLang="en-IN" sz="2400" dirty="0">
              <a:latin typeface="Times New Roman" panose="02020603050405020304" pitchFamily="18" charset="0"/>
            </a:endParaRPr>
          </a:p>
          <a:p>
            <a:pPr marL="457200" indent="-457200" eaLnBrk="1" hangingPunct="1">
              <a:buFont typeface="+mj-lt"/>
              <a:buAutoNum type="arabicPeriod"/>
            </a:pPr>
            <a:r>
              <a:rPr lang="en-US" altLang="en-IN" sz="2400" dirty="0">
                <a:latin typeface="Times New Roman" panose="02020603050405020304" pitchFamily="18" charset="0"/>
              </a:rPr>
              <a:t>References</a:t>
            </a:r>
          </a:p>
          <a:p>
            <a:pPr eaLnBrk="1" hangingPunct="1"/>
            <a:endParaRPr lang="en-US" altLang="en-IN" sz="2400" dirty="0">
              <a:latin typeface="Times New Roman" panose="02020603050405020304" pitchFamily="18" charset="0"/>
            </a:endParaRPr>
          </a:p>
          <a:p>
            <a:pPr eaLnBrk="1" hangingPunct="1"/>
            <a:endParaRPr lang="en-US" altLang="en-IN" sz="2400"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a:p>
            <a:pPr eaLnBrk="1" hangingPunct="1"/>
            <a:endParaRPr lang="en-US" altLang="en-IN" dirty="0">
              <a:latin typeface="Times New Roman" panose="02020603050405020304" pitchFamily="18" charset="0"/>
            </a:endParaRPr>
          </a:p>
        </p:txBody>
      </p:sp>
      <p:sp>
        <p:nvSpPr>
          <p:cNvPr id="5124" name="Slide Number Placeholder 2"/>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a:t>
            </a:fld>
            <a:endParaRPr lang="en-IN" altLang="en-US" sz="1200" b="1" dirty="0">
              <a:solidFill>
                <a:srgbClr val="C00000"/>
              </a:solidFill>
            </a:endParaRPr>
          </a:p>
        </p:txBody>
      </p:sp>
      <p:pic>
        <p:nvPicPr>
          <p:cNvPr id="5125"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0992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5128" name="Picture 6"/>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6"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3" name="TextBox 2">
            <a:extLst>
              <a:ext uri="{FF2B5EF4-FFF2-40B4-BE49-F238E27FC236}">
                <a16:creationId xmlns:a16="http://schemas.microsoft.com/office/drawing/2014/main" id="{36830D01-CE67-88BB-9DA8-56285E3022E9}"/>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2600"/>
            <a:ext cx="10515600" cy="5984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89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Abstract</a:t>
            </a:r>
          </a:p>
        </p:txBody>
      </p:sp>
      <p:sp>
        <p:nvSpPr>
          <p:cNvPr id="6148" name="Slide Number Placeholder 2"/>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3</a:t>
            </a:fld>
            <a:endParaRPr lang="en-IN" altLang="en-US" sz="1200" b="1" dirty="0">
              <a:solidFill>
                <a:srgbClr val="C00000"/>
              </a:solidFill>
            </a:endParaRPr>
          </a:p>
        </p:txBody>
      </p:sp>
      <p:pic>
        <p:nvPicPr>
          <p:cNvPr id="6149"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6152" name="Picture 6"/>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6"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1AE0D66D-998F-833F-1DBD-C4CC66FDD99C}"/>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49935A4C-32CD-CCA3-27C8-E0AC61EDE4C2}"/>
              </a:ext>
            </a:extLst>
          </p:cNvPr>
          <p:cNvSpPr txBox="1">
            <a:spLocks/>
          </p:cNvSpPr>
          <p:nvPr/>
        </p:nvSpPr>
        <p:spPr>
          <a:xfrm>
            <a:off x="772096" y="631825"/>
            <a:ext cx="10969054" cy="5611813"/>
          </a:xfrm>
          <a:prstGeom prst="rect">
            <a:avLst/>
          </a:prstGeom>
          <a:noFill/>
          <a:ln w="9525">
            <a:noFill/>
          </a:ln>
        </p:spPr>
        <p:txBody>
          <a:bodyPr>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pPr>
            <a:endParaRPr lang="en-IN" sz="2000" dirty="0">
              <a:solidFill>
                <a:srgbClr val="000000"/>
              </a:solidFill>
              <a:latin typeface="Times New Roman" panose="02020603050405020304" pitchFamily="18" charset="0"/>
            </a:endParaRPr>
          </a:p>
          <a:p>
            <a:pPr marL="0" indent="0" algn="just">
              <a:lnSpc>
                <a:spcPct val="120000"/>
              </a:lnSpc>
              <a:buNone/>
            </a:pPr>
            <a:r>
              <a:rPr lang="en-US" sz="2000" dirty="0">
                <a:solidFill>
                  <a:srgbClr val="000000"/>
                </a:solidFill>
                <a:latin typeface="Times New Roman" panose="02020603050405020304" pitchFamily="18" charset="0"/>
                <a:cs typeface="Times New Roman" panose="02020603050405020304" pitchFamily="18" charset="0"/>
              </a:rPr>
              <a:t>The rapid growth of unstructured information across documents, web pages, and videos has made it         difficult to retrieve precise, contextual answers from heterogeneous sources. This project develops a fully local Multi-Source Intelligent Retrieval-Augmented Generation (RAG) System that ingests data from five source types PDF, DOCX, TXT, web URLs, and YouTube transcripts and answers natural-language queries without relying on cloud APIs, ensuring complete data privacy and offline operation. The system is built using </a:t>
            </a:r>
            <a:r>
              <a:rPr lang="en-US" sz="2000" dirty="0" err="1">
                <a:solidFill>
                  <a:srgbClr val="000000"/>
                </a:solidFill>
                <a:latin typeface="Times New Roman" panose="02020603050405020304" pitchFamily="18" charset="0"/>
                <a:cs typeface="Times New Roman" panose="02020603050405020304" pitchFamily="18" charset="0"/>
              </a:rPr>
              <a:t>LangChain</a:t>
            </a:r>
            <a:r>
              <a:rPr lang="en-US" sz="2000" dirty="0">
                <a:solidFill>
                  <a:srgbClr val="000000"/>
                </a:solidFill>
                <a:latin typeface="Times New Roman" panose="02020603050405020304" pitchFamily="18" charset="0"/>
                <a:cs typeface="Times New Roman" panose="02020603050405020304" pitchFamily="18" charset="0"/>
              </a:rPr>
              <a:t> for orchestration, </a:t>
            </a:r>
            <a:r>
              <a:rPr lang="en-US" sz="2000" dirty="0" err="1">
                <a:solidFill>
                  <a:srgbClr val="000000"/>
                </a:solidFill>
                <a:latin typeface="Times New Roman" panose="02020603050405020304" pitchFamily="18" charset="0"/>
                <a:cs typeface="Times New Roman" panose="02020603050405020304" pitchFamily="18" charset="0"/>
              </a:rPr>
              <a:t>ChromaDB</a:t>
            </a:r>
            <a:r>
              <a:rPr lang="en-US" sz="2000" dirty="0">
                <a:solidFill>
                  <a:srgbClr val="000000"/>
                </a:solidFill>
                <a:latin typeface="Times New Roman" panose="02020603050405020304" pitchFamily="18" charset="0"/>
                <a:cs typeface="Times New Roman" panose="02020603050405020304" pitchFamily="18" charset="0"/>
              </a:rPr>
              <a:t> as the local vector store, </a:t>
            </a:r>
            <a:r>
              <a:rPr lang="en-US" sz="2000" dirty="0" err="1">
                <a:solidFill>
                  <a:srgbClr val="000000"/>
                </a:solidFill>
                <a:latin typeface="Times New Roman" panose="02020603050405020304" pitchFamily="18" charset="0"/>
                <a:cs typeface="Times New Roman" panose="02020603050405020304" pitchFamily="18" charset="0"/>
              </a:rPr>
              <a:t>HuggingFace</a:t>
            </a:r>
            <a:r>
              <a:rPr lang="en-US" sz="2000" dirty="0">
                <a:solidFill>
                  <a:srgbClr val="000000"/>
                </a:solidFill>
                <a:latin typeface="Times New Roman" panose="02020603050405020304" pitchFamily="18" charset="0"/>
                <a:cs typeface="Times New Roman" panose="02020603050405020304" pitchFamily="18" charset="0"/>
              </a:rPr>
              <a:t> all-MiniLM-L6-v2 for embeddings, and </a:t>
            </a:r>
            <a:r>
              <a:rPr lang="en-US" sz="2000" dirty="0" err="1">
                <a:solidFill>
                  <a:srgbClr val="000000"/>
                </a:solidFill>
                <a:latin typeface="Times New Roman" panose="02020603050405020304" pitchFamily="18" charset="0"/>
                <a:cs typeface="Times New Roman" panose="02020603050405020304" pitchFamily="18" charset="0"/>
              </a:rPr>
              <a:t>Ollama</a:t>
            </a:r>
            <a:r>
              <a:rPr lang="en-US" sz="2000" dirty="0">
                <a:solidFill>
                  <a:srgbClr val="000000"/>
                </a:solidFill>
                <a:latin typeface="Times New Roman" panose="02020603050405020304" pitchFamily="18" charset="0"/>
                <a:cs typeface="Times New Roman" panose="02020603050405020304" pitchFamily="18" charset="0"/>
              </a:rPr>
              <a:t> with the llama3.2 model for on-device language generation. A unified ingestion pipeline normalizes documents into chunked, metadata-rich representations, while a Maximal Marginal Relevance (MMR) retriever selects diverse, relevant context for the LLM. The application is exposed through a </a:t>
            </a:r>
            <a:r>
              <a:rPr lang="en-US" sz="2000" dirty="0" err="1">
                <a:solidFill>
                  <a:srgbClr val="000000"/>
                </a:solidFill>
                <a:latin typeface="Times New Roman" panose="02020603050405020304" pitchFamily="18" charset="0"/>
                <a:cs typeface="Times New Roman" panose="02020603050405020304" pitchFamily="18" charset="0"/>
              </a:rPr>
              <a:t>FastAPI</a:t>
            </a:r>
            <a:r>
              <a:rPr lang="en-US" sz="2000" dirty="0">
                <a:solidFill>
                  <a:srgbClr val="000000"/>
                </a:solidFill>
                <a:latin typeface="Times New Roman" panose="02020603050405020304" pitchFamily="18" charset="0"/>
                <a:cs typeface="Times New Roman" panose="02020603050405020304" pitchFamily="18" charset="0"/>
              </a:rPr>
              <a:t> backend and </a:t>
            </a:r>
            <a:r>
              <a:rPr lang="en-US" sz="2000" dirty="0" err="1">
                <a:solidFill>
                  <a:srgbClr val="000000"/>
                </a:solidFill>
                <a:latin typeface="Times New Roman" panose="02020603050405020304" pitchFamily="18" charset="0"/>
                <a:cs typeface="Times New Roman" panose="02020603050405020304" pitchFamily="18" charset="0"/>
              </a:rPr>
              <a:t>Streamlit</a:t>
            </a:r>
            <a:r>
              <a:rPr lang="en-US" sz="2000" dirty="0">
                <a:solidFill>
                  <a:srgbClr val="000000"/>
                </a:solidFill>
                <a:latin typeface="Times New Roman" panose="02020603050405020304" pitchFamily="18" charset="0"/>
                <a:cs typeface="Times New Roman" panose="02020603050405020304" pitchFamily="18" charset="0"/>
              </a:rPr>
              <a:t> frontend, enabling document uploads and source-grounded answers in real time. An LLM-as-a-judge evaluation module measures faithfulness, answer relevance, and context relevance. </a:t>
            </a:r>
          </a:p>
          <a:p>
            <a:pPr marL="0" indent="0" algn="just">
              <a:lnSpc>
                <a:spcPct val="120000"/>
              </a:lnSpc>
              <a:buNone/>
            </a:pPr>
            <a:r>
              <a:rPr lang="en-US" sz="2000" b="1" dirty="0">
                <a:latin typeface="Times New Roman" panose="02020603050405020304" pitchFamily="18" charset="0"/>
                <a:cs typeface="Times New Roman" panose="02020603050405020304" pitchFamily="18" charset="0"/>
              </a:rPr>
              <a:t>Dataset</a:t>
            </a:r>
            <a:r>
              <a:rPr lang="en-US" sz="2000" dirty="0">
                <a:latin typeface="Times New Roman" panose="02020603050405020304" pitchFamily="18" charset="0"/>
                <a:cs typeface="Times New Roman" panose="02020603050405020304" pitchFamily="18" charset="0"/>
              </a:rPr>
              <a:t>: User-supplied multi-format corpus (PDF, DOCX, TXT, Web URLs, YouTube transcripts)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10515600" cy="6492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89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Introduction</a:t>
            </a:r>
          </a:p>
        </p:txBody>
      </p:sp>
      <p:sp>
        <p:nvSpPr>
          <p:cNvPr id="7172" name="Slide Number Placeholder 2"/>
          <p:cNvSpPr txBox="1">
            <a:spLocks noGrp="1"/>
          </p:cNvSpPr>
          <p:nvPr>
            <p:ph type="sldNum" sz="quarter" idx="12"/>
          </p:nvPr>
        </p:nvSpPr>
        <p:spPr>
          <a:xfrm>
            <a:off x="9248648" y="6200012"/>
            <a:ext cx="2743200" cy="365125"/>
          </a:xfrm>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4</a:t>
            </a:fld>
            <a:endParaRPr lang="en-IN" altLang="en-US" sz="1200" b="1" dirty="0">
              <a:solidFill>
                <a:srgbClr val="C00000"/>
              </a:solidFill>
            </a:endParaRPr>
          </a:p>
        </p:txBody>
      </p:sp>
      <p:pic>
        <p:nvPicPr>
          <p:cNvPr id="7173" name="Picture 5"/>
          <p:cNvPicPr/>
          <p:nvPr/>
        </p:nvPicPr>
        <p:blipFill>
          <a:blip r:embed="rId2"/>
          <a:stretch>
            <a:fillRect/>
          </a:stretch>
        </p:blipFill>
        <p:spPr>
          <a:xfrm>
            <a:off x="11290300" y="0"/>
            <a:ext cx="901700" cy="993775"/>
          </a:xfrm>
          <a:prstGeom prst="rect">
            <a:avLst/>
          </a:prstGeom>
          <a:noFill/>
          <a:ln w="9525">
            <a:noFill/>
          </a:ln>
        </p:spPr>
      </p:pic>
      <p:pic>
        <p:nvPicPr>
          <p:cNvPr id="7174" name="Picture 5"/>
          <p:cNvPicPr/>
          <p:nvPr/>
        </p:nvPicPr>
        <p:blipFill>
          <a:blip r:embed="rId2"/>
          <a:stretch>
            <a:fillRect/>
          </a:stretch>
        </p:blipFill>
        <p:spPr>
          <a:xfrm>
            <a:off x="11290300" y="0"/>
            <a:ext cx="901700" cy="993775"/>
          </a:xfrm>
          <a:prstGeom prst="rect">
            <a:avLst/>
          </a:prstGeom>
          <a:noFill/>
          <a:ln w="9525">
            <a:noFill/>
          </a:ln>
        </p:spPr>
      </p:pic>
      <p:sp>
        <p:nvSpPr>
          <p:cNvPr id="11"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2" name="Rectangle 11"/>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177" name="Picture 12"/>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3"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4" name="TextBox 3">
            <a:extLst>
              <a:ext uri="{FF2B5EF4-FFF2-40B4-BE49-F238E27FC236}">
                <a16:creationId xmlns:a16="http://schemas.microsoft.com/office/drawing/2014/main" id="{A8E9643F-FCF3-963F-212C-21755E9F4A85}"/>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61C18731-8D32-152E-BC97-D041661E9926}"/>
              </a:ext>
            </a:extLst>
          </p:cNvPr>
          <p:cNvSpPr>
            <a:spLocks noGrp="1"/>
          </p:cNvSpPr>
          <p:nvPr>
            <p:ph idx="1"/>
          </p:nvPr>
        </p:nvSpPr>
        <p:spPr>
          <a:xfrm>
            <a:off x="795673" y="1106489"/>
            <a:ext cx="10742277" cy="5294312"/>
          </a:xfrm>
        </p:spPr>
        <p:txBody>
          <a:bodyPr>
            <a:noAutofit/>
          </a:bodyPr>
          <a:lstStyle/>
          <a:p>
            <a:pPr marL="0" indent="0" algn="just">
              <a:lnSpc>
                <a:spcPct val="100000"/>
              </a:lnSpc>
              <a:buNone/>
            </a:pPr>
            <a:r>
              <a:rPr lang="en-US" sz="2100" dirty="0">
                <a:latin typeface="Times New Roman" panose="02020603050405020304" pitchFamily="18" charset="0"/>
                <a:cs typeface="Times New Roman" panose="02020603050405020304" pitchFamily="18" charset="0"/>
              </a:rPr>
              <a:t>The exponential rise of digital information across documents, web pages, and multimedia has created an   urgent need for systems that can retrieve and reason over heterogeneous data meaningfully. Traditional keyword search often fails to capture user intent, while modern Large Language Models (LLMs), though powerful, are prone to hallucinations and lack grounding in user-specific data. Retrieval-Augmented Generation (RAG) addresses these limitations by combining the contextual understanding of LLMs with the factual precision of information retrieval. However, most existing RAG solutions depend on cloud APIs, raising concerns over data privacy, cost, and offline accessibility. This project presents a Multi-Source Intelligent RAG System Using Local LLMs, a fully offline question-answering platform that ingests information from five source types: PDF, DOCX, TXT, web URLs, and YouTube transcripts. It leverages </a:t>
            </a:r>
            <a:r>
              <a:rPr lang="en-US" sz="2100" dirty="0" err="1">
                <a:latin typeface="Times New Roman" panose="02020603050405020304" pitchFamily="18" charset="0"/>
                <a:cs typeface="Times New Roman" panose="02020603050405020304" pitchFamily="18" charset="0"/>
              </a:rPr>
              <a:t>LangChain</a:t>
            </a:r>
            <a:r>
              <a:rPr lang="en-US" sz="2100" dirty="0">
                <a:latin typeface="Times New Roman" panose="02020603050405020304" pitchFamily="18" charset="0"/>
                <a:cs typeface="Times New Roman" panose="02020603050405020304" pitchFamily="18" charset="0"/>
              </a:rPr>
              <a:t> for orchestration, </a:t>
            </a:r>
            <a:r>
              <a:rPr lang="en-US" sz="2100" dirty="0" err="1">
                <a:latin typeface="Times New Roman" panose="02020603050405020304" pitchFamily="18" charset="0"/>
                <a:cs typeface="Times New Roman" panose="02020603050405020304" pitchFamily="18" charset="0"/>
              </a:rPr>
              <a:t>ChromaDB</a:t>
            </a:r>
            <a:r>
              <a:rPr lang="en-US" sz="2100" dirty="0">
                <a:latin typeface="Times New Roman" panose="02020603050405020304" pitchFamily="18" charset="0"/>
                <a:cs typeface="Times New Roman" panose="02020603050405020304" pitchFamily="18" charset="0"/>
              </a:rPr>
              <a:t> as the local vector store, </a:t>
            </a:r>
            <a:r>
              <a:rPr lang="en-US" sz="2100" dirty="0" err="1">
                <a:latin typeface="Times New Roman" panose="02020603050405020304" pitchFamily="18" charset="0"/>
                <a:cs typeface="Times New Roman" panose="02020603050405020304" pitchFamily="18" charset="0"/>
              </a:rPr>
              <a:t>HuggingFace</a:t>
            </a:r>
            <a:r>
              <a:rPr lang="en-US" sz="2100" dirty="0">
                <a:latin typeface="Times New Roman" panose="02020603050405020304" pitchFamily="18" charset="0"/>
                <a:cs typeface="Times New Roman" panose="02020603050405020304" pitchFamily="18" charset="0"/>
              </a:rPr>
              <a:t> all-MiniLM-L6-v2 for embeddings, and </a:t>
            </a:r>
            <a:r>
              <a:rPr lang="en-US" sz="2100" dirty="0" err="1">
                <a:latin typeface="Times New Roman" panose="02020603050405020304" pitchFamily="18" charset="0"/>
                <a:cs typeface="Times New Roman" panose="02020603050405020304" pitchFamily="18" charset="0"/>
              </a:rPr>
              <a:t>Ollama</a:t>
            </a:r>
            <a:r>
              <a:rPr lang="en-US" sz="2100" dirty="0">
                <a:latin typeface="Times New Roman" panose="02020603050405020304" pitchFamily="18" charset="0"/>
                <a:cs typeface="Times New Roman" panose="02020603050405020304" pitchFamily="18" charset="0"/>
              </a:rPr>
              <a:t> with llama3.2 for on-device generation. A </a:t>
            </a:r>
            <a:r>
              <a:rPr lang="en-US" sz="2100" dirty="0" err="1">
                <a:latin typeface="Times New Roman" panose="02020603050405020304" pitchFamily="18" charset="0"/>
                <a:cs typeface="Times New Roman" panose="02020603050405020304" pitchFamily="18" charset="0"/>
              </a:rPr>
              <a:t>FastAPI</a:t>
            </a:r>
            <a:r>
              <a:rPr lang="en-US" sz="2100" dirty="0">
                <a:latin typeface="Times New Roman" panose="02020603050405020304" pitchFamily="18" charset="0"/>
                <a:cs typeface="Times New Roman" panose="02020603050405020304" pitchFamily="18" charset="0"/>
              </a:rPr>
              <a:t> backend and </a:t>
            </a:r>
            <a:r>
              <a:rPr lang="en-US" sz="2100" dirty="0" err="1">
                <a:latin typeface="Times New Roman" panose="02020603050405020304" pitchFamily="18" charset="0"/>
                <a:cs typeface="Times New Roman" panose="02020603050405020304" pitchFamily="18" charset="0"/>
              </a:rPr>
              <a:t>Streamlit</a:t>
            </a:r>
            <a:r>
              <a:rPr lang="en-US" sz="2100" dirty="0">
                <a:latin typeface="Times New Roman" panose="02020603050405020304" pitchFamily="18" charset="0"/>
                <a:cs typeface="Times New Roman" panose="02020603050405020304" pitchFamily="18" charset="0"/>
              </a:rPr>
              <a:t> frontend enable real-time document upload and querying, while an LLM-as-a-judge evaluation module measures faithfulness, answer relevance, and context relevance, demonstrating how privacy-preserving. RAG can deliver grounded, reliable answers across diverse domains.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838200" y="365125"/>
            <a:ext cx="10515600" cy="752475"/>
          </a:xfrm>
        </p:spPr>
        <p:txBody>
          <a:bodyPr vert="horz" wrap="square" lIns="91440" tIns="45720" rIns="91440" bIns="45720" anchor="ctr" anchorCtr="0"/>
          <a:lstStyle/>
          <a:p>
            <a:pPr eaLnBrk="1" hangingPunct="1"/>
            <a:r>
              <a:rPr lang="en-IN" altLang="en-US" b="1" dirty="0">
                <a:solidFill>
                  <a:srgbClr val="00B0F0"/>
                </a:solidFill>
                <a:latin typeface="Times New Roman" panose="02020603050405020304" pitchFamily="18" charset="0"/>
              </a:rPr>
              <a:t>Existing System</a:t>
            </a:r>
          </a:p>
        </p:txBody>
      </p:sp>
      <p:sp>
        <p:nvSpPr>
          <p:cNvPr id="8196"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5</a:t>
            </a:fld>
            <a:endParaRPr lang="en-IN" altLang="en-US" sz="1200" b="1" dirty="0">
              <a:solidFill>
                <a:srgbClr val="C00000"/>
              </a:solidFill>
            </a:endParaRPr>
          </a:p>
        </p:txBody>
      </p:sp>
      <p:pic>
        <p:nvPicPr>
          <p:cNvPr id="8197" name="Picture 5"/>
          <p:cNvPicPr/>
          <p:nvPr/>
        </p:nvPicPr>
        <p:blipFill>
          <a:blip r:embed="rId2"/>
          <a:stretch>
            <a:fillRect/>
          </a:stretch>
        </p:blipFill>
        <p:spPr>
          <a:xfrm>
            <a:off x="11299825" y="0"/>
            <a:ext cx="901700" cy="993775"/>
          </a:xfrm>
          <a:prstGeom prst="rect">
            <a:avLst/>
          </a:prstGeom>
          <a:noFill/>
          <a:ln w="9525">
            <a:noFill/>
          </a:ln>
        </p:spPr>
      </p:pic>
      <p:pic>
        <p:nvPicPr>
          <p:cNvPr id="8198"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201"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6" name="TextBox 5">
            <a:extLst>
              <a:ext uri="{FF2B5EF4-FFF2-40B4-BE49-F238E27FC236}">
                <a16:creationId xmlns:a16="http://schemas.microsoft.com/office/drawing/2014/main" id="{F759BCB4-B5DA-3CF8-1F37-0DA1FE2BDE13}"/>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8" name="Rectangle 2">
            <a:extLst>
              <a:ext uri="{FF2B5EF4-FFF2-40B4-BE49-F238E27FC236}">
                <a16:creationId xmlns:a16="http://schemas.microsoft.com/office/drawing/2014/main" id="{52D63626-2B19-5DE5-2266-FEF3A932B83B}"/>
              </a:ext>
            </a:extLst>
          </p:cNvPr>
          <p:cNvSpPr>
            <a:spLocks noGrp="1" noChangeArrowheads="1"/>
          </p:cNvSpPr>
          <p:nvPr>
            <p:ph idx="1"/>
          </p:nvPr>
        </p:nvSpPr>
        <p:spPr bwMode="auto">
          <a:xfrm>
            <a:off x="838200" y="1117600"/>
            <a:ext cx="1064666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nSpc>
                <a:spcPct val="100000"/>
              </a:lnSpc>
              <a:spcBef>
                <a:spcPct val="0"/>
              </a:spcBef>
              <a:buNone/>
            </a:pPr>
            <a:r>
              <a:rPr lang="en-US" altLang="en-US" sz="2200" b="1" dirty="0">
                <a:latin typeface="Times New Roman" panose="02020603050405020304" pitchFamily="18" charset="0"/>
                <a:cs typeface="Times New Roman" panose="02020603050405020304" pitchFamily="18" charset="0"/>
              </a:rPr>
              <a:t>Cloud-Based RAG Platforms </a:t>
            </a:r>
            <a:r>
              <a:rPr lang="en-US" altLang="en-US" sz="2200" dirty="0">
                <a:latin typeface="Times New Roman" panose="02020603050405020304" pitchFamily="18" charset="0"/>
                <a:cs typeface="Times New Roman" panose="02020603050405020304" pitchFamily="18" charset="0"/>
              </a:rPr>
              <a:t>(OpenAI ChatGPT, Google Gemini, Perplexity AI)                             </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Provide question answering over user-uploaded documents using cloud LLMs.</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Require constant internet access and send user data to external servers.                           </a:t>
            </a:r>
          </a:p>
          <a:p>
            <a:pPr marL="0" lvl="0" indent="0">
              <a:lnSpc>
                <a:spcPct val="100000"/>
              </a:lnSpc>
              <a:spcBef>
                <a:spcPct val="0"/>
              </a:spcBef>
              <a:buNone/>
            </a:pPr>
            <a:r>
              <a:rPr lang="en-US" altLang="en-US" sz="2200" b="1" dirty="0" err="1">
                <a:latin typeface="Times New Roman" panose="02020603050405020304" pitchFamily="18" charset="0"/>
                <a:cs typeface="Times New Roman" panose="02020603050405020304" pitchFamily="18" charset="0"/>
              </a:rPr>
              <a:t>LangChain</a:t>
            </a:r>
            <a:r>
              <a:rPr lang="en-US" altLang="en-US" sz="2200" b="1" dirty="0">
                <a:latin typeface="Times New Roman" panose="02020603050405020304" pitchFamily="18" charset="0"/>
                <a:cs typeface="Times New Roman" panose="02020603050405020304" pitchFamily="18" charset="0"/>
              </a:rPr>
              <a:t> + OpenAI API Implementations                                                                  </a:t>
            </a:r>
          </a:p>
          <a:p>
            <a:pPr marL="0" lvl="0" indent="0">
              <a:lnSpc>
                <a:spcPct val="100000"/>
              </a:lnSpc>
              <a:spcBef>
                <a:spcPct val="0"/>
              </a:spcBef>
              <a:buNone/>
            </a:pPr>
            <a:r>
              <a:rPr lang="en-US" altLang="en-US" sz="2200" b="1" dirty="0">
                <a:latin typeface="Times New Roman" panose="02020603050405020304" pitchFamily="18" charset="0"/>
                <a:cs typeface="Times New Roman" panose="02020603050405020304" pitchFamily="18" charset="0"/>
              </a:rPr>
              <a:t>   </a:t>
            </a:r>
            <a:r>
              <a:rPr lang="en-US" altLang="en-US" sz="2200" dirty="0">
                <a:latin typeface="Times New Roman" panose="02020603050405020304" pitchFamily="18" charset="0"/>
                <a:cs typeface="Times New Roman" panose="02020603050405020304" pitchFamily="18" charset="0"/>
              </a:rPr>
              <a:t>- Widely used for building RAG pipelines with GPT-3.5/GPT-4 models.                                       - Depend on paid API keys and external embeddings (OpenAI Ada).                                         </a:t>
            </a:r>
            <a:r>
              <a:rPr lang="en-US" altLang="en-US" sz="2200" b="1" dirty="0">
                <a:latin typeface="Times New Roman" panose="02020603050405020304" pitchFamily="18" charset="0"/>
                <a:cs typeface="Times New Roman" panose="02020603050405020304" pitchFamily="18" charset="0"/>
              </a:rPr>
              <a:t>Pinecone / </a:t>
            </a:r>
            <a:r>
              <a:rPr lang="en-US" altLang="en-US" sz="2200" b="1" dirty="0" err="1">
                <a:latin typeface="Times New Roman" panose="02020603050405020304" pitchFamily="18" charset="0"/>
                <a:cs typeface="Times New Roman" panose="02020603050405020304" pitchFamily="18" charset="0"/>
              </a:rPr>
              <a:t>Weaviate</a:t>
            </a:r>
            <a:r>
              <a:rPr lang="en-US" altLang="en-US" sz="2200" b="1" dirty="0">
                <a:latin typeface="Times New Roman" panose="02020603050405020304" pitchFamily="18" charset="0"/>
                <a:cs typeface="Times New Roman" panose="02020603050405020304" pitchFamily="18" charset="0"/>
              </a:rPr>
              <a:t> Vector Databases                                                                 </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Cloud-hosted vector stores used for semantic search at scale.</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Charge per query and require account setup and network availability.</a:t>
            </a:r>
          </a:p>
          <a:p>
            <a:pPr marL="0" lvl="0" indent="0">
              <a:lnSpc>
                <a:spcPct val="100000"/>
              </a:lnSpc>
              <a:spcBef>
                <a:spcPct val="0"/>
              </a:spcBef>
              <a:buNone/>
            </a:pPr>
            <a:r>
              <a:rPr lang="en-US" altLang="en-US" sz="2200" b="1" dirty="0">
                <a:latin typeface="Times New Roman" panose="02020603050405020304" pitchFamily="18" charset="0"/>
                <a:cs typeface="Times New Roman" panose="02020603050405020304" pitchFamily="18" charset="0"/>
              </a:rPr>
              <a:t>Microsoft Copilot / Notion AI</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Offer document Q&amp;A inside their proprietary ecosystems.</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Locked to specific file formats and subscription plans.</a:t>
            </a:r>
          </a:p>
          <a:p>
            <a:pPr marL="0" lvl="0" indent="0">
              <a:lnSpc>
                <a:spcPct val="100000"/>
              </a:lnSpc>
              <a:spcBef>
                <a:spcPct val="0"/>
              </a:spcBef>
              <a:buNone/>
            </a:pPr>
            <a:r>
              <a:rPr lang="en-US" altLang="en-US" sz="2200" b="1" dirty="0">
                <a:latin typeface="Times New Roman" panose="02020603050405020304" pitchFamily="18" charset="0"/>
                <a:cs typeface="Times New Roman" panose="02020603050405020304" pitchFamily="18" charset="0"/>
              </a:rPr>
              <a:t>YouTube Transcript Search Tools (</a:t>
            </a:r>
            <a:r>
              <a:rPr lang="en-US" altLang="en-US" sz="2200" b="1" dirty="0" err="1">
                <a:latin typeface="Times New Roman" panose="02020603050405020304" pitchFamily="18" charset="0"/>
                <a:cs typeface="Times New Roman" panose="02020603050405020304" pitchFamily="18" charset="0"/>
              </a:rPr>
              <a:t>Eightify</a:t>
            </a:r>
            <a:r>
              <a:rPr lang="en-US" altLang="en-US" sz="2200" b="1" dirty="0">
                <a:latin typeface="Times New Roman" panose="02020603050405020304" pitchFamily="18" charset="0"/>
                <a:cs typeface="Times New Roman" panose="02020603050405020304" pitchFamily="18" charset="0"/>
              </a:rPr>
              <a:t>, </a:t>
            </a:r>
            <a:r>
              <a:rPr lang="en-US" altLang="en-US" sz="2200" b="1" dirty="0" err="1">
                <a:latin typeface="Times New Roman" panose="02020603050405020304" pitchFamily="18" charset="0"/>
                <a:cs typeface="Times New Roman" panose="02020603050405020304" pitchFamily="18" charset="0"/>
              </a:rPr>
              <a:t>Glasp</a:t>
            </a:r>
            <a:r>
              <a:rPr lang="en-US" altLang="en-US" sz="2200" b="1" dirty="0">
                <a:latin typeface="Times New Roman" panose="02020603050405020304" pitchFamily="18" charset="0"/>
                <a:cs typeface="Times New Roman" panose="02020603050405020304" pitchFamily="18" charset="0"/>
              </a:rPr>
              <a:t>)</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Summarize videos using cloud LLMs.</a:t>
            </a:r>
          </a:p>
          <a:p>
            <a:pPr marL="0" lvl="0" indent="0">
              <a:lnSpc>
                <a:spcPct val="100000"/>
              </a:lnSpc>
              <a:spcBef>
                <a:spcPct val="0"/>
              </a:spcBef>
              <a:buNone/>
            </a:pPr>
            <a:r>
              <a:rPr lang="en-US" altLang="en-US" sz="2200" dirty="0">
                <a:latin typeface="Times New Roman" panose="02020603050405020304" pitchFamily="18" charset="0"/>
                <a:cs typeface="Times New Roman" panose="02020603050405020304" pitchFamily="18" charset="0"/>
              </a:rPr>
              <a:t>    - Limited to a single source type and require login/credits.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B69E-DB4A-7A5A-6E87-6EC83720F2EF}"/>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2439E4EA-BA71-B8ED-5E85-E125AF70EE9E}"/>
              </a:ext>
            </a:extLst>
          </p:cNvPr>
          <p:cNvSpPr>
            <a:spLocks noGrp="1"/>
          </p:cNvSpPr>
          <p:nvPr>
            <p:ph type="title"/>
          </p:nvPr>
        </p:nvSpPr>
        <p:spPr>
          <a:xfrm>
            <a:off x="838200" y="365125"/>
            <a:ext cx="10515600" cy="752475"/>
          </a:xfrm>
        </p:spPr>
        <p:txBody>
          <a:bodyPr vert="horz" wrap="square" lIns="91440" tIns="45720" rIns="91440" bIns="45720" anchor="ctr" anchorCtr="0"/>
          <a:lstStyle/>
          <a:p>
            <a:pPr eaLnBrk="1" hangingPunct="1"/>
            <a:r>
              <a:rPr lang="en-IN" altLang="en-US" b="1" dirty="0">
                <a:solidFill>
                  <a:srgbClr val="00B0F0"/>
                </a:solidFill>
                <a:latin typeface="Times New Roman" panose="02020603050405020304" pitchFamily="18" charset="0"/>
              </a:rPr>
              <a:t>Drawbacks of Existing System</a:t>
            </a:r>
          </a:p>
        </p:txBody>
      </p:sp>
      <p:sp>
        <p:nvSpPr>
          <p:cNvPr id="8196" name="Slide Number Placeholder 1">
            <a:extLst>
              <a:ext uri="{FF2B5EF4-FFF2-40B4-BE49-F238E27FC236}">
                <a16:creationId xmlns:a16="http://schemas.microsoft.com/office/drawing/2014/main" id="{53D28D9B-53F1-8ABB-BD58-F74266758999}"/>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6</a:t>
            </a:fld>
            <a:endParaRPr lang="en-IN" altLang="en-US" sz="1200" b="1" dirty="0">
              <a:solidFill>
                <a:srgbClr val="C00000"/>
              </a:solidFill>
            </a:endParaRPr>
          </a:p>
        </p:txBody>
      </p:sp>
      <p:pic>
        <p:nvPicPr>
          <p:cNvPr id="8197" name="Picture 5">
            <a:extLst>
              <a:ext uri="{FF2B5EF4-FFF2-40B4-BE49-F238E27FC236}">
                <a16:creationId xmlns:a16="http://schemas.microsoft.com/office/drawing/2014/main" id="{BE2DC054-AF55-DB6D-449B-EBF29B14769E}"/>
              </a:ext>
            </a:extLst>
          </p:cNvPr>
          <p:cNvPicPr/>
          <p:nvPr/>
        </p:nvPicPr>
        <p:blipFill>
          <a:blip r:embed="rId2"/>
          <a:stretch>
            <a:fillRect/>
          </a:stretch>
        </p:blipFill>
        <p:spPr>
          <a:xfrm>
            <a:off x="11299825" y="0"/>
            <a:ext cx="901700" cy="993775"/>
          </a:xfrm>
          <a:prstGeom prst="rect">
            <a:avLst/>
          </a:prstGeom>
          <a:noFill/>
          <a:ln w="9525">
            <a:noFill/>
          </a:ln>
        </p:spPr>
      </p:pic>
      <p:pic>
        <p:nvPicPr>
          <p:cNvPr id="8198" name="Picture 5">
            <a:extLst>
              <a:ext uri="{FF2B5EF4-FFF2-40B4-BE49-F238E27FC236}">
                <a16:creationId xmlns:a16="http://schemas.microsoft.com/office/drawing/2014/main" id="{07ACB2A4-6362-994A-D446-5A092174E435}"/>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B1FE3D2E-C7CB-E797-0E4B-08856316CA64}"/>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DAF1D755-AE2E-0FE8-DD9D-CA480555BF31}"/>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201" name="Picture 5">
            <a:extLst>
              <a:ext uri="{FF2B5EF4-FFF2-40B4-BE49-F238E27FC236}">
                <a16:creationId xmlns:a16="http://schemas.microsoft.com/office/drawing/2014/main" id="{E473E130-2662-AC36-43A0-29B6E82276EF}"/>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3D18A458-225B-00F2-04A8-F6B0B075A0AE}"/>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6" name="TextBox 5">
            <a:extLst>
              <a:ext uri="{FF2B5EF4-FFF2-40B4-BE49-F238E27FC236}">
                <a16:creationId xmlns:a16="http://schemas.microsoft.com/office/drawing/2014/main" id="{27AD915C-47F8-A984-EE14-51084A9CB2B5}"/>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8" name="Rectangle 2">
            <a:extLst>
              <a:ext uri="{FF2B5EF4-FFF2-40B4-BE49-F238E27FC236}">
                <a16:creationId xmlns:a16="http://schemas.microsoft.com/office/drawing/2014/main" id="{B8936D3B-5E61-B7B9-EF29-7DA9780BC081}"/>
              </a:ext>
            </a:extLst>
          </p:cNvPr>
          <p:cNvSpPr>
            <a:spLocks noGrp="1" noChangeArrowheads="1"/>
          </p:cNvSpPr>
          <p:nvPr>
            <p:ph idx="1"/>
          </p:nvPr>
        </p:nvSpPr>
        <p:spPr bwMode="auto">
          <a:xfrm>
            <a:off x="721487" y="1061652"/>
            <a:ext cx="10749026"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Privacy Risk: </a:t>
            </a:r>
            <a:r>
              <a:rPr lang="en-US" altLang="en-US" sz="2000" dirty="0">
                <a:latin typeface="Times New Roman" panose="02020603050405020304" pitchFamily="18" charset="0"/>
                <a:cs typeface="Times New Roman" panose="02020603050405020304" pitchFamily="18" charset="0"/>
              </a:rPr>
              <a:t>User documents and queries are sent to third-party servers, exposing sensitive data.   </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Recurring Cost: </a:t>
            </a:r>
            <a:r>
              <a:rPr lang="en-US" altLang="en-US" sz="2000" dirty="0">
                <a:latin typeface="Times New Roman" panose="02020603050405020304" pitchFamily="18" charset="0"/>
                <a:cs typeface="Times New Roman" panose="02020603050405020304" pitchFamily="18" charset="0"/>
              </a:rPr>
              <a:t>Cloud LLM APIs and managed vector databases charge per token or per query.</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Internet Dependency: </a:t>
            </a:r>
            <a:r>
              <a:rPr lang="en-US" altLang="en-US" sz="2000" dirty="0">
                <a:latin typeface="Times New Roman" panose="02020603050405020304" pitchFamily="18" charset="0"/>
                <a:cs typeface="Times New Roman" panose="02020603050405020304" pitchFamily="18" charset="0"/>
              </a:rPr>
              <a:t>Cannot operate offline; unusable in air-gapped or low-connectivity environments.</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Limited Source Coverage: </a:t>
            </a:r>
            <a:r>
              <a:rPr lang="en-US" altLang="en-US" sz="2000" dirty="0">
                <a:latin typeface="Times New Roman" panose="02020603050405020304" pitchFamily="18" charset="0"/>
                <a:cs typeface="Times New Roman" panose="02020603050405020304" pitchFamily="18" charset="0"/>
              </a:rPr>
              <a:t>Most tools handle only one or two file formats and ignore web/YouTube       </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content.</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Vendor Lock-in: </a:t>
            </a:r>
            <a:r>
              <a:rPr lang="en-US" altLang="en-US" sz="2000" dirty="0">
                <a:latin typeface="Times New Roman" panose="02020603050405020304" pitchFamily="18" charset="0"/>
                <a:cs typeface="Times New Roman" panose="02020603050405020304" pitchFamily="18" charset="0"/>
              </a:rPr>
              <a:t>Closed ecosystems make it hard to switch models, embeddings, or storage backends.    </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Hallucinations: </a:t>
            </a:r>
            <a:r>
              <a:rPr lang="en-US" altLang="en-US" sz="2000" dirty="0">
                <a:latin typeface="Times New Roman" panose="02020603050405020304" pitchFamily="18" charset="0"/>
                <a:cs typeface="Times New Roman" panose="02020603050405020304" pitchFamily="18" charset="0"/>
              </a:rPr>
              <a:t>Pure LLM systems without retrieval often fabricate facts and lack source attribution.</a:t>
            </a:r>
          </a:p>
          <a:p>
            <a:pPr marL="0" lvl="0" indent="0" algn="just">
              <a:lnSpc>
                <a:spcPct val="150000"/>
              </a:lnSpc>
              <a:spcBef>
                <a:spcPct val="0"/>
              </a:spcBef>
              <a:buNone/>
            </a:pPr>
            <a:r>
              <a:rPr lang="en-US" altLang="en-US" sz="2000" dirty="0">
                <a:latin typeface="Times New Roman" panose="02020603050405020304" pitchFamily="18" charset="0"/>
                <a:cs typeface="Times New Roman" panose="02020603050405020304" pitchFamily="18" charset="0"/>
              </a:rPr>
              <a:t>  - </a:t>
            </a:r>
            <a:r>
              <a:rPr lang="en-US" altLang="en-US" sz="2000" b="1" dirty="0">
                <a:latin typeface="Times New Roman" panose="02020603050405020304" pitchFamily="18" charset="0"/>
                <a:cs typeface="Times New Roman" panose="02020603050405020304" pitchFamily="18" charset="0"/>
              </a:rPr>
              <a:t>Scalability Cost: </a:t>
            </a:r>
            <a:r>
              <a:rPr lang="en-US" altLang="en-US" sz="2000" dirty="0">
                <a:latin typeface="Times New Roman" panose="02020603050405020304" pitchFamily="18" charset="0"/>
                <a:cs typeface="Times New Roman" panose="02020603050405020304" pitchFamily="18" charset="0"/>
              </a:rPr>
              <a:t>Storing large corpora in cloud vector DBs becomes expensive as data grows.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843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59904" y="362095"/>
            <a:ext cx="10515600" cy="777875"/>
          </a:xfrm>
        </p:spPr>
        <p:txBody>
          <a:bodyPr vert="horz" wrap="square" lIns="91440" tIns="45720" rIns="91440" bIns="45720" anchor="ctr" anchorCtr="0"/>
          <a:lstStyle/>
          <a:p>
            <a:pPr eaLnBrk="1" hangingPunct="1"/>
            <a:r>
              <a:rPr lang="en-IN" altLang="en-US" b="1" dirty="0">
                <a:solidFill>
                  <a:srgbClr val="00B0F0"/>
                </a:solidFill>
                <a:latin typeface="Times New Roman" panose="02020603050405020304" pitchFamily="18" charset="0"/>
              </a:rPr>
              <a:t>Proposed System</a:t>
            </a:r>
          </a:p>
        </p:txBody>
      </p:sp>
      <p:sp>
        <p:nvSpPr>
          <p:cNvPr id="9220"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7</a:t>
            </a:fld>
            <a:endParaRPr lang="en-IN" altLang="en-US" sz="1200" b="1" dirty="0">
              <a:solidFill>
                <a:srgbClr val="C00000"/>
              </a:solidFill>
            </a:endParaRPr>
          </a:p>
        </p:txBody>
      </p:sp>
      <p:pic>
        <p:nvPicPr>
          <p:cNvPr id="9221" name="Picture 5"/>
          <p:cNvPicPr/>
          <p:nvPr/>
        </p:nvPicPr>
        <p:blipFill>
          <a:blip r:embed="rId2"/>
          <a:stretch>
            <a:fillRect/>
          </a:stretch>
        </p:blipFill>
        <p:spPr>
          <a:xfrm>
            <a:off x="11299825" y="0"/>
            <a:ext cx="901700" cy="993775"/>
          </a:xfrm>
          <a:prstGeom prst="rect">
            <a:avLst/>
          </a:prstGeom>
          <a:noFill/>
          <a:ln w="9525">
            <a:noFill/>
          </a:ln>
        </p:spPr>
      </p:pic>
      <p:pic>
        <p:nvPicPr>
          <p:cNvPr id="9222"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9225"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6" name="TextBox 5">
            <a:extLst>
              <a:ext uri="{FF2B5EF4-FFF2-40B4-BE49-F238E27FC236}">
                <a16:creationId xmlns:a16="http://schemas.microsoft.com/office/drawing/2014/main" id="{B4C319C0-F36D-E98B-7C8B-5BF000781810}"/>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8" name="Rectangle 1">
            <a:extLst>
              <a:ext uri="{FF2B5EF4-FFF2-40B4-BE49-F238E27FC236}">
                <a16:creationId xmlns:a16="http://schemas.microsoft.com/office/drawing/2014/main" id="{B3767831-2F13-2202-F4CA-6B1CE8E6F065}"/>
              </a:ext>
            </a:extLst>
          </p:cNvPr>
          <p:cNvSpPr>
            <a:spLocks noGrp="1" noChangeArrowheads="1"/>
          </p:cNvSpPr>
          <p:nvPr>
            <p:ph idx="1"/>
          </p:nvPr>
        </p:nvSpPr>
        <p:spPr bwMode="auto">
          <a:xfrm>
            <a:off x="559904" y="1219752"/>
            <a:ext cx="11616221"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Develop a fully local Multi-Source Intelligent RAG System using open-source LLMs.</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Ingest data from five source types: PDF, DOCX, TXT, web URLs, and YouTube transcripts.</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Implement and integrate the following components:</a:t>
            </a:r>
          </a:p>
          <a:p>
            <a:pPr marL="514350" lvl="0" indent="-514350">
              <a:lnSpc>
                <a:spcPct val="100000"/>
              </a:lnSpc>
              <a:spcBef>
                <a:spcPct val="0"/>
              </a:spcBef>
              <a:buFont typeface="+mj-lt"/>
              <a:buAutoNum type="romanLcPeriod"/>
            </a:pP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LangChain</a:t>
            </a:r>
            <a:r>
              <a:rPr lang="en-US" altLang="en-US" sz="2200" dirty="0">
                <a:latin typeface="Times New Roman" panose="02020603050405020304" pitchFamily="18" charset="0"/>
                <a:cs typeface="Times New Roman" panose="02020603050405020304" pitchFamily="18" charset="0"/>
              </a:rPr>
              <a:t> — pipeline orchestration and prompt management</a:t>
            </a:r>
          </a:p>
          <a:p>
            <a:pPr marL="514350" lvl="0" indent="-514350">
              <a:lnSpc>
                <a:spcPct val="100000"/>
              </a:lnSpc>
              <a:spcBef>
                <a:spcPct val="0"/>
              </a:spcBef>
              <a:buFont typeface="+mj-lt"/>
              <a:buAutoNum type="romanLcPeriod"/>
            </a:pP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ChromaDB</a:t>
            </a:r>
            <a:r>
              <a:rPr lang="en-US" altLang="en-US" sz="2200" dirty="0">
                <a:latin typeface="Times New Roman" panose="02020603050405020304" pitchFamily="18" charset="0"/>
                <a:cs typeface="Times New Roman" panose="02020603050405020304" pitchFamily="18" charset="0"/>
              </a:rPr>
              <a:t> — local on-disk vector database</a:t>
            </a:r>
          </a:p>
          <a:p>
            <a:pPr marL="514350" lvl="0" indent="-514350">
              <a:lnSpc>
                <a:spcPct val="100000"/>
              </a:lnSpc>
              <a:spcBef>
                <a:spcPct val="0"/>
              </a:spcBef>
              <a:buFont typeface="+mj-lt"/>
              <a:buAutoNum type="romanLcPeriod"/>
            </a:pP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HuggingFace</a:t>
            </a:r>
            <a:r>
              <a:rPr lang="en-US" altLang="en-US" sz="2200" dirty="0">
                <a:latin typeface="Times New Roman" panose="02020603050405020304" pitchFamily="18" charset="0"/>
                <a:cs typeface="Times New Roman" panose="02020603050405020304" pitchFamily="18" charset="0"/>
              </a:rPr>
              <a:t> all-MiniLM-L6-v2 — sentence embeddings</a:t>
            </a:r>
          </a:p>
          <a:p>
            <a:pPr marL="514350" lvl="0" indent="-514350">
              <a:lnSpc>
                <a:spcPct val="100000"/>
              </a:lnSpc>
              <a:spcBef>
                <a:spcPct val="0"/>
              </a:spcBef>
              <a:buFont typeface="+mj-lt"/>
              <a:buAutoNum type="romanLcPeriod"/>
            </a:pP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Ollama</a:t>
            </a:r>
            <a:r>
              <a:rPr lang="en-US" altLang="en-US" sz="2200" dirty="0">
                <a:latin typeface="Times New Roman" panose="02020603050405020304" pitchFamily="18" charset="0"/>
                <a:cs typeface="Times New Roman" panose="02020603050405020304" pitchFamily="18" charset="0"/>
              </a:rPr>
              <a:t> + llama3.2 — on-device language generation</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Use a unified ingestion pipeline that chunks, embeds, and stores documents with rich metadata.       </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Apply Maximal Marginal Relevance (MMR) retrieval for diverse, context-rich answers.</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Expose the system through a </a:t>
            </a:r>
            <a:r>
              <a:rPr lang="en-US" altLang="en-US" sz="2200" dirty="0" err="1">
                <a:latin typeface="Times New Roman" panose="02020603050405020304" pitchFamily="18" charset="0"/>
                <a:cs typeface="Times New Roman" panose="02020603050405020304" pitchFamily="18" charset="0"/>
              </a:rPr>
              <a:t>FastAPI</a:t>
            </a:r>
            <a:r>
              <a:rPr lang="en-US" altLang="en-US" sz="2200" dirty="0">
                <a:latin typeface="Times New Roman" panose="02020603050405020304" pitchFamily="18" charset="0"/>
                <a:cs typeface="Times New Roman" panose="02020603050405020304" pitchFamily="18" charset="0"/>
              </a:rPr>
              <a:t> backend and a </a:t>
            </a:r>
            <a:r>
              <a:rPr lang="en-US" altLang="en-US" sz="2200" dirty="0" err="1">
                <a:latin typeface="Times New Roman" panose="02020603050405020304" pitchFamily="18" charset="0"/>
                <a:cs typeface="Times New Roman" panose="02020603050405020304" pitchFamily="18" charset="0"/>
              </a:rPr>
              <a:t>Streamlit</a:t>
            </a:r>
            <a:r>
              <a:rPr lang="en-US" altLang="en-US" sz="2200" dirty="0">
                <a:latin typeface="Times New Roman" panose="02020603050405020304" pitchFamily="18" charset="0"/>
                <a:cs typeface="Times New Roman" panose="02020603050405020304" pitchFamily="18" charset="0"/>
              </a:rPr>
              <a:t> frontend for real-time interaction.      </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Provide an LLM-as-a-judge evaluation module measuring faithfulness, answer relevance, and context relevance.</a:t>
            </a:r>
          </a:p>
          <a:p>
            <a:pPr marL="0" lvl="0" indent="0">
              <a:lnSpc>
                <a:spcPct val="100000"/>
              </a:lnSpc>
              <a:spcBef>
                <a:spcPct val="0"/>
              </a:spcBef>
              <a:buFontTx/>
              <a:buChar char="•"/>
            </a:pPr>
            <a:r>
              <a:rPr lang="en-US" altLang="en-US" sz="2200" dirty="0">
                <a:latin typeface="Times New Roman" panose="02020603050405020304" pitchFamily="18" charset="0"/>
                <a:cs typeface="Times New Roman" panose="02020603050405020304" pitchFamily="18" charset="0"/>
              </a:rPr>
              <a:t>  Aim to deliver accurate, private, and source-attributed question answering without any cloud dependency.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443F8-DA69-36C6-81C0-0B4BB4044A71}"/>
            </a:ext>
          </a:extLst>
        </p:cNvPr>
        <p:cNvGrpSpPr/>
        <p:nvPr/>
      </p:nvGrpSpPr>
      <p:grpSpPr>
        <a:xfrm>
          <a:off x="0" y="0"/>
          <a:ext cx="0" cy="0"/>
          <a:chOff x="0" y="0"/>
          <a:chExt cx="0" cy="0"/>
        </a:xfrm>
      </p:grpSpPr>
      <p:sp>
        <p:nvSpPr>
          <p:cNvPr id="8194" name="Title 1">
            <a:extLst>
              <a:ext uri="{FF2B5EF4-FFF2-40B4-BE49-F238E27FC236}">
                <a16:creationId xmlns:a16="http://schemas.microsoft.com/office/drawing/2014/main" id="{DD0A94A5-2D6F-C9D9-AC39-B01C3C92E3E4}"/>
              </a:ext>
            </a:extLst>
          </p:cNvPr>
          <p:cNvSpPr>
            <a:spLocks noGrp="1"/>
          </p:cNvSpPr>
          <p:nvPr>
            <p:ph type="title"/>
          </p:nvPr>
        </p:nvSpPr>
        <p:spPr>
          <a:xfrm>
            <a:off x="838200" y="365125"/>
            <a:ext cx="10515600" cy="752475"/>
          </a:xfrm>
        </p:spPr>
        <p:txBody>
          <a:bodyPr vert="horz" wrap="square" lIns="91440" tIns="45720" rIns="91440" bIns="45720" anchor="ctr" anchorCtr="0"/>
          <a:lstStyle/>
          <a:p>
            <a:pPr eaLnBrk="1" hangingPunct="1"/>
            <a:r>
              <a:rPr lang="en-IN" altLang="en-US" b="1" dirty="0">
                <a:solidFill>
                  <a:srgbClr val="00B0F0"/>
                </a:solidFill>
                <a:latin typeface="Times New Roman" panose="02020603050405020304" pitchFamily="18" charset="0"/>
              </a:rPr>
              <a:t>Advantages of Proposed System</a:t>
            </a:r>
          </a:p>
        </p:txBody>
      </p:sp>
      <p:sp>
        <p:nvSpPr>
          <p:cNvPr id="8196" name="Slide Number Placeholder 1">
            <a:extLst>
              <a:ext uri="{FF2B5EF4-FFF2-40B4-BE49-F238E27FC236}">
                <a16:creationId xmlns:a16="http://schemas.microsoft.com/office/drawing/2014/main" id="{6FAAB7C7-50E1-F0F1-5C7D-3E27CE9B8355}"/>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8</a:t>
            </a:fld>
            <a:endParaRPr lang="en-IN" altLang="en-US" sz="1200" b="1" dirty="0">
              <a:solidFill>
                <a:srgbClr val="C00000"/>
              </a:solidFill>
            </a:endParaRPr>
          </a:p>
        </p:txBody>
      </p:sp>
      <p:pic>
        <p:nvPicPr>
          <p:cNvPr id="8197" name="Picture 5">
            <a:extLst>
              <a:ext uri="{FF2B5EF4-FFF2-40B4-BE49-F238E27FC236}">
                <a16:creationId xmlns:a16="http://schemas.microsoft.com/office/drawing/2014/main" id="{532D662B-0733-C6AB-0EBF-9B7AB327A9DC}"/>
              </a:ext>
            </a:extLst>
          </p:cNvPr>
          <p:cNvPicPr/>
          <p:nvPr/>
        </p:nvPicPr>
        <p:blipFill>
          <a:blip r:embed="rId2"/>
          <a:stretch>
            <a:fillRect/>
          </a:stretch>
        </p:blipFill>
        <p:spPr>
          <a:xfrm>
            <a:off x="11299825" y="0"/>
            <a:ext cx="901700" cy="993775"/>
          </a:xfrm>
          <a:prstGeom prst="rect">
            <a:avLst/>
          </a:prstGeom>
          <a:noFill/>
          <a:ln w="9525">
            <a:noFill/>
          </a:ln>
        </p:spPr>
      </p:pic>
      <p:pic>
        <p:nvPicPr>
          <p:cNvPr id="8198" name="Picture 5">
            <a:extLst>
              <a:ext uri="{FF2B5EF4-FFF2-40B4-BE49-F238E27FC236}">
                <a16:creationId xmlns:a16="http://schemas.microsoft.com/office/drawing/2014/main" id="{5C3F0672-7EE5-A551-4E0F-B61458FC7AF2}"/>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AF4CE1CE-D983-CBC4-1F3A-B2C4D8CDA4C5}"/>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667F7EA2-348A-35E5-A67A-C2F624DFA43B}"/>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8201" name="Picture 5">
            <a:extLst>
              <a:ext uri="{FF2B5EF4-FFF2-40B4-BE49-F238E27FC236}">
                <a16:creationId xmlns:a16="http://schemas.microsoft.com/office/drawing/2014/main" id="{48050761-5802-929E-B481-1F0CC56CEA1A}"/>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E3D21988-CB52-A85C-3B1B-87A9509C7E82}"/>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6" name="TextBox 5">
            <a:extLst>
              <a:ext uri="{FF2B5EF4-FFF2-40B4-BE49-F238E27FC236}">
                <a16:creationId xmlns:a16="http://schemas.microsoft.com/office/drawing/2014/main" id="{36F426C0-8ECB-4343-5D0B-8A1F05AAA146}"/>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8" name="Rectangle 2">
            <a:extLst>
              <a:ext uri="{FF2B5EF4-FFF2-40B4-BE49-F238E27FC236}">
                <a16:creationId xmlns:a16="http://schemas.microsoft.com/office/drawing/2014/main" id="{4A477FEB-F04E-FEC8-C436-939A8A00D0D7}"/>
              </a:ext>
            </a:extLst>
          </p:cNvPr>
          <p:cNvSpPr>
            <a:spLocks noGrp="1" noChangeArrowheads="1"/>
          </p:cNvSpPr>
          <p:nvPr>
            <p:ph idx="1"/>
          </p:nvPr>
        </p:nvSpPr>
        <p:spPr bwMode="auto">
          <a:xfrm>
            <a:off x="413893" y="1334187"/>
            <a:ext cx="11482451"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Complete Privacy: </a:t>
            </a:r>
            <a:r>
              <a:rPr lang="en-US" altLang="en-US" sz="2000" dirty="0">
                <a:latin typeface="Times New Roman" panose="02020603050405020304" pitchFamily="18" charset="0"/>
                <a:cs typeface="Times New Roman" panose="02020603050405020304" pitchFamily="18" charset="0"/>
              </a:rPr>
              <a:t>All data, embeddings, and inference stay on the user's machine — nothing leaves the device.</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Zero Recurring Cost: </a:t>
            </a:r>
            <a:r>
              <a:rPr lang="en-US" altLang="en-US" sz="2000" dirty="0">
                <a:latin typeface="Times New Roman" panose="02020603050405020304" pitchFamily="18" charset="0"/>
                <a:cs typeface="Times New Roman" panose="02020603050405020304" pitchFamily="18" charset="0"/>
              </a:rPr>
              <a:t>No API keys, subscriptions, or per-query charges.</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Offline Capability: </a:t>
            </a:r>
            <a:r>
              <a:rPr lang="en-US" altLang="en-US" sz="2000" dirty="0">
                <a:latin typeface="Times New Roman" panose="02020603050405020304" pitchFamily="18" charset="0"/>
                <a:cs typeface="Times New Roman" panose="02020603050405020304" pitchFamily="18" charset="0"/>
              </a:rPr>
              <a:t>Fully functional without internet after initial setup.</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Multi-Source Support: </a:t>
            </a:r>
            <a:r>
              <a:rPr lang="en-US" altLang="en-US" sz="2000" dirty="0">
                <a:latin typeface="Times New Roman" panose="02020603050405020304" pitchFamily="18" charset="0"/>
                <a:cs typeface="Times New Roman" panose="02020603050405020304" pitchFamily="18" charset="0"/>
              </a:rPr>
              <a:t>Unifies PDF, DOCX, TXT, Web, and YouTube content into one searchable knowledge base.</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Source-Grounded Answers: </a:t>
            </a:r>
            <a:r>
              <a:rPr lang="en-US" altLang="en-US" sz="2000" dirty="0">
                <a:latin typeface="Times New Roman" panose="02020603050405020304" pitchFamily="18" charset="0"/>
                <a:cs typeface="Times New Roman" panose="02020603050405020304" pitchFamily="18" charset="0"/>
              </a:rPr>
              <a:t>Every response cites the originating chunk, eliminating hallucinations.     </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Modular &amp; Open Source: </a:t>
            </a:r>
            <a:r>
              <a:rPr lang="en-US" altLang="en-US" sz="2000" dirty="0">
                <a:latin typeface="Times New Roman" panose="02020603050405020304" pitchFamily="18" charset="0"/>
                <a:cs typeface="Times New Roman" panose="02020603050405020304" pitchFamily="18" charset="0"/>
              </a:rPr>
              <a:t>Built on </a:t>
            </a:r>
            <a:r>
              <a:rPr lang="en-US" altLang="en-US" sz="2000" dirty="0" err="1">
                <a:latin typeface="Times New Roman" panose="02020603050405020304" pitchFamily="18" charset="0"/>
                <a:cs typeface="Times New Roman" panose="02020603050405020304" pitchFamily="18" charset="0"/>
              </a:rPr>
              <a:t>LangChain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ChromaDB</a:t>
            </a:r>
            <a:r>
              <a:rPr lang="en-US" altLang="en-US" sz="2000" dirty="0">
                <a:latin typeface="Times New Roman" panose="02020603050405020304" pitchFamily="18" charset="0"/>
                <a:cs typeface="Times New Roman" panose="02020603050405020304" pitchFamily="18" charset="0"/>
              </a:rPr>
              <a:t>, and </a:t>
            </a:r>
            <a:r>
              <a:rPr lang="en-US" altLang="en-US" sz="2000" dirty="0" err="1">
                <a:latin typeface="Times New Roman" panose="02020603050405020304" pitchFamily="18" charset="0"/>
                <a:cs typeface="Times New Roman" panose="02020603050405020304" pitchFamily="18" charset="0"/>
              </a:rPr>
              <a:t>Ollama</a:t>
            </a:r>
            <a:r>
              <a:rPr lang="en-US" altLang="en-US" sz="2000" dirty="0">
                <a:latin typeface="Times New Roman" panose="02020603050405020304" pitchFamily="18" charset="0"/>
                <a:cs typeface="Times New Roman" panose="02020603050405020304" pitchFamily="18" charset="0"/>
              </a:rPr>
              <a:t> — easy to swap models or extend.     </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Interactive UI: </a:t>
            </a:r>
            <a:r>
              <a:rPr lang="en-US" altLang="en-US" sz="2000" dirty="0" err="1">
                <a:latin typeface="Times New Roman" panose="02020603050405020304" pitchFamily="18" charset="0"/>
                <a:cs typeface="Times New Roman" panose="02020603050405020304" pitchFamily="18" charset="0"/>
              </a:rPr>
              <a:t>Streamlit</a:t>
            </a:r>
            <a:r>
              <a:rPr lang="en-US" altLang="en-US" sz="2000" dirty="0">
                <a:latin typeface="Times New Roman" panose="02020603050405020304" pitchFamily="18" charset="0"/>
                <a:cs typeface="Times New Roman" panose="02020603050405020304" pitchFamily="18" charset="0"/>
              </a:rPr>
              <a:t> frontend enables real-time uploads, queries, and source inspection.        </a:t>
            </a:r>
          </a:p>
          <a:p>
            <a:pPr marL="0" lvl="0" indent="0" algn="just">
              <a:lnSpc>
                <a:spcPct val="150000"/>
              </a:lnSpc>
              <a:spcBef>
                <a:spcPct val="0"/>
              </a:spcBef>
              <a:buFontTx/>
              <a:buChar cha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Self-Evaluating: </a:t>
            </a:r>
            <a:r>
              <a:rPr lang="en-US" altLang="en-US" sz="2000" dirty="0">
                <a:latin typeface="Times New Roman" panose="02020603050405020304" pitchFamily="18" charset="0"/>
                <a:cs typeface="Times New Roman" panose="02020603050405020304" pitchFamily="18" charset="0"/>
              </a:rPr>
              <a:t>Built-in LLM-as-judge metrics validate answer quality automatically.</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719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53978-FA4E-7E55-BFF2-E44A84DE65D8}"/>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A0C1C0C3-7A0D-A41D-DF5E-7CD2F585ABF2}"/>
              </a:ext>
            </a:extLst>
          </p:cNvPr>
          <p:cNvSpPr>
            <a:spLocks noGrp="1"/>
          </p:cNvSpPr>
          <p:nvPr>
            <p:ph type="title"/>
          </p:nvPr>
        </p:nvSpPr>
        <p:spPr>
          <a:xfrm>
            <a:off x="288084" y="355775"/>
            <a:ext cx="5180028" cy="638000"/>
          </a:xfrm>
        </p:spPr>
        <p:txBody>
          <a:bodyPr vert="horz" wrap="square" lIns="91440" tIns="45720" rIns="91440" bIns="45720" anchor="ctr" anchorCtr="0"/>
          <a:lstStyle/>
          <a:p>
            <a:pPr eaLnBrk="1" hangingPunct="1"/>
            <a:r>
              <a:rPr lang="en-IN" altLang="en-US" b="1" dirty="0">
                <a:solidFill>
                  <a:srgbClr val="00B0F0"/>
                </a:solidFill>
                <a:latin typeface="Times New Roman" panose="02020603050405020304" pitchFamily="18" charset="0"/>
              </a:rPr>
              <a:t>System Architecture </a:t>
            </a:r>
          </a:p>
        </p:txBody>
      </p:sp>
      <p:sp>
        <p:nvSpPr>
          <p:cNvPr id="20484" name="Slide Number Placeholder 1">
            <a:extLst>
              <a:ext uri="{FF2B5EF4-FFF2-40B4-BE49-F238E27FC236}">
                <a16:creationId xmlns:a16="http://schemas.microsoft.com/office/drawing/2014/main" id="{E4ABBC1B-F8E9-2EBC-3BF2-C12B5DD933E0}"/>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9</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19C961B2-5405-EE29-E1EA-B09B74019DF0}"/>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92C85EA9-6BBA-3679-68FB-6A698E17554E}"/>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C3808AA9-C8E0-9129-B772-654F5759CA6C}"/>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2915495B-6894-9614-1012-88044C317F98}"/>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B881026C-CA33-EE33-5FEC-174035B973B8}"/>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C4CB037C-A4DF-C02B-BA83-E61AA27E484B}"/>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292A6E19-B72B-040D-79DF-9D08C234F0CD}"/>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8546D18-D2F8-D041-E3DA-688B58BEDD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904" y="1084436"/>
            <a:ext cx="11594592" cy="5079599"/>
          </a:xfrm>
          <a:prstGeom prst="rect">
            <a:avLst/>
          </a:prstGeom>
        </p:spPr>
      </p:pic>
    </p:spTree>
    <p:extLst>
      <p:ext uri="{BB962C8B-B14F-4D97-AF65-F5344CB8AC3E}">
        <p14:creationId xmlns:p14="http://schemas.microsoft.com/office/powerpoint/2010/main" val="1918850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2ADB-F010-BB50-014D-7105746FEF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265754-F4E1-1569-138A-EB3468EA55AB}"/>
              </a:ext>
            </a:extLst>
          </p:cNvPr>
          <p:cNvSpPr>
            <a:spLocks noGrp="1"/>
          </p:cNvSpPr>
          <p:nvPr>
            <p:ph type="ctrTitle"/>
          </p:nvPr>
        </p:nvSpPr>
        <p:spPr>
          <a:xfrm>
            <a:off x="2667000" y="2535788"/>
            <a:ext cx="6858000" cy="1786424"/>
          </a:xfrm>
        </p:spPr>
        <p:txBody>
          <a:bodyPr vert="horz" wrap="square" lIns="91440" tIns="45720" rIns="91440" bIns="45720" numCol="1" rtlCol="0" anchor="b"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sz="600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Requirements Specification</a:t>
            </a:r>
          </a:p>
        </p:txBody>
      </p:sp>
      <p:sp>
        <p:nvSpPr>
          <p:cNvPr id="18435" name="Slide Number Placeholder 1">
            <a:extLst>
              <a:ext uri="{FF2B5EF4-FFF2-40B4-BE49-F238E27FC236}">
                <a16:creationId xmlns:a16="http://schemas.microsoft.com/office/drawing/2014/main" id="{BF693D70-87F6-D598-9E69-281F06A41192}"/>
              </a:ext>
            </a:extLst>
          </p:cNvPr>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10</a:t>
            </a:fld>
            <a:endParaRPr lang="en-IN" altLang="en-US" sz="1200" b="1" dirty="0">
              <a:solidFill>
                <a:srgbClr val="C00000"/>
              </a:solidFill>
            </a:endParaRPr>
          </a:p>
        </p:txBody>
      </p:sp>
      <p:pic>
        <p:nvPicPr>
          <p:cNvPr id="18436" name="Picture 5">
            <a:extLst>
              <a:ext uri="{FF2B5EF4-FFF2-40B4-BE49-F238E27FC236}">
                <a16:creationId xmlns:a16="http://schemas.microsoft.com/office/drawing/2014/main" id="{2F6B353B-5AEF-5189-9CB6-7E208179EAA5}"/>
              </a:ext>
            </a:extLst>
          </p:cNvPr>
          <p:cNvPicPr/>
          <p:nvPr/>
        </p:nvPicPr>
        <p:blipFill>
          <a:blip r:embed="rId2"/>
          <a:stretch>
            <a:fillRect/>
          </a:stretch>
        </p:blipFill>
        <p:spPr>
          <a:xfrm>
            <a:off x="11290300" y="0"/>
            <a:ext cx="901700" cy="993775"/>
          </a:xfrm>
          <a:prstGeom prst="rect">
            <a:avLst/>
          </a:prstGeom>
          <a:noFill/>
          <a:ln w="9525">
            <a:noFill/>
          </a:ln>
        </p:spPr>
      </p:pic>
      <p:pic>
        <p:nvPicPr>
          <p:cNvPr id="18437" name="Picture 5">
            <a:extLst>
              <a:ext uri="{FF2B5EF4-FFF2-40B4-BE49-F238E27FC236}">
                <a16:creationId xmlns:a16="http://schemas.microsoft.com/office/drawing/2014/main" id="{14463553-2692-0D2C-C432-8ACA84A9F896}"/>
              </a:ext>
            </a:extLst>
          </p:cNvPr>
          <p:cNvPicPr/>
          <p:nvPr/>
        </p:nvPicPr>
        <p:blipFill>
          <a:blip r:embed="rId2"/>
          <a:stretch>
            <a:fillRect/>
          </a:stretch>
        </p:blipFill>
        <p:spPr>
          <a:xfrm>
            <a:off x="11290300" y="0"/>
            <a:ext cx="901700" cy="993775"/>
          </a:xfrm>
          <a:prstGeom prst="rect">
            <a:avLst/>
          </a:prstGeom>
          <a:noFill/>
          <a:ln w="9525">
            <a:noFill/>
          </a:ln>
        </p:spPr>
      </p:pic>
      <p:sp>
        <p:nvSpPr>
          <p:cNvPr id="5" name="Rounded Rectangle 4">
            <a:extLst>
              <a:ext uri="{FF2B5EF4-FFF2-40B4-BE49-F238E27FC236}">
                <a16:creationId xmlns:a16="http://schemas.microsoft.com/office/drawing/2014/main" id="{625A9BEC-DF0B-4FC0-8599-2A0A42B8C6D6}"/>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6" name="Rectangle 5">
            <a:extLst>
              <a:ext uri="{FF2B5EF4-FFF2-40B4-BE49-F238E27FC236}">
                <a16:creationId xmlns:a16="http://schemas.microsoft.com/office/drawing/2014/main" id="{DB1B400A-E474-DCD3-EF90-84CC06713E7B}"/>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8440" name="Picture 6">
            <a:extLst>
              <a:ext uri="{FF2B5EF4-FFF2-40B4-BE49-F238E27FC236}">
                <a16:creationId xmlns:a16="http://schemas.microsoft.com/office/drawing/2014/main" id="{58CEAAD2-C2ED-6524-2264-C9BF9C25E944}"/>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24ACEE79-7562-3D9D-256D-24BC62BAD61A}"/>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82555453-409B-B6B9-448E-CB11EB70AD56}"/>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1436787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11</a:t>
            </a:fld>
            <a:endParaRPr lang="en-IN" altLang="en-US" sz="1200" b="1" dirty="0">
              <a:solidFill>
                <a:srgbClr val="C00000"/>
              </a:solidFill>
            </a:endParaRPr>
          </a:p>
        </p:txBody>
      </p:sp>
      <p:pic>
        <p:nvPicPr>
          <p:cNvPr id="19461" name="Picture 5"/>
          <p:cNvPicPr/>
          <p:nvPr/>
        </p:nvPicPr>
        <p:blipFill>
          <a:blip r:embed="rId2"/>
          <a:stretch>
            <a:fillRect/>
          </a:stretch>
        </p:blipFill>
        <p:spPr>
          <a:xfrm>
            <a:off x="11290300" y="0"/>
            <a:ext cx="901700" cy="993775"/>
          </a:xfrm>
          <a:prstGeom prst="rect">
            <a:avLst/>
          </a:prstGeom>
          <a:noFill/>
          <a:ln w="9525">
            <a:noFill/>
          </a:ln>
        </p:spPr>
      </p:pic>
      <p:pic>
        <p:nvPicPr>
          <p:cNvPr id="19462"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9465"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itle 1">
            <a:extLst>
              <a:ext uri="{FF2B5EF4-FFF2-40B4-BE49-F238E27FC236}">
                <a16:creationId xmlns:a16="http://schemas.microsoft.com/office/drawing/2014/main" id="{D98DD94F-B423-14DD-DA15-83DDD8C6D77C}"/>
              </a:ext>
            </a:extLst>
          </p:cNvPr>
          <p:cNvSpPr txBox="1">
            <a:spLocks/>
          </p:cNvSpPr>
          <p:nvPr/>
        </p:nvSpPr>
        <p:spPr>
          <a:xfrm>
            <a:off x="524521" y="509588"/>
            <a:ext cx="11410950" cy="1228725"/>
          </a:xfrm>
          <a:prstGeom prst="rect">
            <a:avLst/>
          </a:prstGeom>
          <a:noFill/>
          <a:ln w="9525">
            <a:noFill/>
          </a:ln>
        </p:spPr>
        <p:txBody>
          <a:bodyPr vert="horz" wrap="square" lIns="91440" tIns="45720" rIns="91440" bIns="45720" anchor="ctr" anchorCtr="0"/>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r>
              <a:rPr lang="en-IN" altLang="en-US" b="1" dirty="0">
                <a:solidFill>
                  <a:srgbClr val="00B0F0"/>
                </a:solidFill>
                <a:latin typeface="Times New Roman" panose="02020603050405020304" pitchFamily="18" charset="0"/>
              </a:rPr>
              <a:t>Software Requirement Specifications (SRS)</a:t>
            </a:r>
          </a:p>
        </p:txBody>
      </p:sp>
      <p:sp>
        <p:nvSpPr>
          <p:cNvPr id="6" name="TextBox 5">
            <a:extLst>
              <a:ext uri="{FF2B5EF4-FFF2-40B4-BE49-F238E27FC236}">
                <a16:creationId xmlns:a16="http://schemas.microsoft.com/office/drawing/2014/main" id="{9AAFF511-B772-2CF7-AD03-B7B712E13132}"/>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10" name="Content Placeholder 2">
            <a:extLst>
              <a:ext uri="{FF2B5EF4-FFF2-40B4-BE49-F238E27FC236}">
                <a16:creationId xmlns:a16="http://schemas.microsoft.com/office/drawing/2014/main" id="{1C7F1202-206D-C543-9250-080FBA3E2304}"/>
              </a:ext>
            </a:extLst>
          </p:cNvPr>
          <p:cNvSpPr>
            <a:spLocks noGrp="1"/>
          </p:cNvSpPr>
          <p:nvPr>
            <p:ph idx="1"/>
          </p:nvPr>
        </p:nvSpPr>
        <p:spPr>
          <a:xfrm>
            <a:off x="524521" y="1738313"/>
            <a:ext cx="11286479" cy="6034747"/>
          </a:xfrm>
        </p:spPr>
        <p:txBody>
          <a:bodyPr>
            <a:normAutofit/>
          </a:bodyPr>
          <a:lstStyle/>
          <a:p>
            <a:r>
              <a:rPr lang="en-IN" dirty="0">
                <a:solidFill>
                  <a:srgbClr val="000000"/>
                </a:solidFill>
                <a:latin typeface="Cambria" panose="02040503050406030204" pitchFamily="18" charset="0"/>
              </a:rPr>
              <a:t>  Operating System: Windows 10 or above / Linux / macOS</a:t>
            </a:r>
          </a:p>
          <a:p>
            <a:r>
              <a:rPr lang="en-IN" dirty="0">
                <a:solidFill>
                  <a:srgbClr val="000000"/>
                </a:solidFill>
                <a:latin typeface="Cambria" panose="02040503050406030204" pitchFamily="18" charset="0"/>
              </a:rPr>
              <a:t>   Programming Language: Python 3.11</a:t>
            </a:r>
          </a:p>
          <a:p>
            <a:r>
              <a:rPr lang="en-IN" dirty="0">
                <a:solidFill>
                  <a:srgbClr val="000000"/>
                </a:solidFill>
                <a:latin typeface="Cambria" panose="02040503050406030204" pitchFamily="18" charset="0"/>
              </a:rPr>
              <a:t>   IDE: Visual Studio Code 1.75 or later</a:t>
            </a:r>
          </a:p>
          <a:p>
            <a:r>
              <a:rPr lang="en-IN" dirty="0">
                <a:solidFill>
                  <a:srgbClr val="000000"/>
                </a:solidFill>
                <a:latin typeface="Cambria" panose="02040503050406030204" pitchFamily="18" charset="0"/>
              </a:rPr>
              <a:t>   LLM Runtime: </a:t>
            </a:r>
            <a:r>
              <a:rPr lang="en-IN" dirty="0" err="1">
                <a:solidFill>
                  <a:srgbClr val="000000"/>
                </a:solidFill>
                <a:latin typeface="Cambria" panose="02040503050406030204" pitchFamily="18" charset="0"/>
              </a:rPr>
              <a:t>Ollama</a:t>
            </a:r>
            <a:r>
              <a:rPr lang="en-IN" dirty="0">
                <a:solidFill>
                  <a:srgbClr val="000000"/>
                </a:solidFill>
                <a:latin typeface="Cambria" panose="02040503050406030204" pitchFamily="18" charset="0"/>
              </a:rPr>
              <a:t> (with llama3.2 model)</a:t>
            </a:r>
          </a:p>
          <a:p>
            <a:r>
              <a:rPr lang="en-IN" dirty="0">
                <a:solidFill>
                  <a:srgbClr val="000000"/>
                </a:solidFill>
                <a:latin typeface="Cambria" panose="02040503050406030204" pitchFamily="18" charset="0"/>
              </a:rPr>
              <a:t>   Vector Database: </a:t>
            </a:r>
            <a:r>
              <a:rPr lang="en-IN" dirty="0" err="1">
                <a:solidFill>
                  <a:srgbClr val="000000"/>
                </a:solidFill>
                <a:latin typeface="Cambria" panose="02040503050406030204" pitchFamily="18" charset="0"/>
              </a:rPr>
              <a:t>ChromaDB</a:t>
            </a:r>
            <a:endParaRPr lang="en-IN" dirty="0">
              <a:solidFill>
                <a:srgbClr val="000000"/>
              </a:solidFill>
              <a:latin typeface="Cambria" panose="02040503050406030204" pitchFamily="18" charset="0"/>
            </a:endParaRPr>
          </a:p>
          <a:p>
            <a:r>
              <a:rPr lang="en-IN" dirty="0">
                <a:solidFill>
                  <a:srgbClr val="000000"/>
                </a:solidFill>
                <a:latin typeface="Cambria" panose="02040503050406030204" pitchFamily="18" charset="0"/>
              </a:rPr>
              <a:t>   Embedding Model: </a:t>
            </a:r>
            <a:r>
              <a:rPr lang="en-IN" dirty="0" err="1">
                <a:solidFill>
                  <a:srgbClr val="000000"/>
                </a:solidFill>
                <a:latin typeface="Cambria" panose="02040503050406030204" pitchFamily="18" charset="0"/>
              </a:rPr>
              <a:t>HuggingFace</a:t>
            </a:r>
            <a:r>
              <a:rPr lang="en-IN" dirty="0">
                <a:solidFill>
                  <a:srgbClr val="000000"/>
                </a:solidFill>
                <a:latin typeface="Cambria" panose="02040503050406030204" pitchFamily="18" charset="0"/>
              </a:rPr>
              <a:t> all-MiniLM-L6-v2</a:t>
            </a:r>
          </a:p>
          <a:p>
            <a:r>
              <a:rPr lang="en-IN" dirty="0">
                <a:solidFill>
                  <a:srgbClr val="000000"/>
                </a:solidFill>
                <a:latin typeface="Cambria" panose="02040503050406030204" pitchFamily="18" charset="0"/>
              </a:rPr>
              <a:t>   Frontend Framework: </a:t>
            </a:r>
            <a:r>
              <a:rPr lang="en-IN" dirty="0" err="1">
                <a:solidFill>
                  <a:srgbClr val="000000"/>
                </a:solidFill>
                <a:latin typeface="Cambria" panose="02040503050406030204" pitchFamily="18" charset="0"/>
              </a:rPr>
              <a:t>Streamlit</a:t>
            </a:r>
            <a:endParaRPr lang="en-IN" dirty="0">
              <a:solidFill>
                <a:srgbClr val="000000"/>
              </a:solidFill>
              <a:latin typeface="Cambria" panose="02040503050406030204" pitchFamily="18" charset="0"/>
            </a:endParaRPr>
          </a:p>
          <a:p>
            <a:r>
              <a:rPr lang="en-IN" dirty="0">
                <a:solidFill>
                  <a:srgbClr val="000000"/>
                </a:solidFill>
                <a:latin typeface="Cambria" panose="02040503050406030204" pitchFamily="18" charset="0"/>
              </a:rPr>
              <a:t>   Version Control: Git / GitHub</a:t>
            </a:r>
            <a:endParaRPr lang="en-IN" sz="4000" b="0" i="0" u="none" strike="noStrike" baseline="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00050" y="495300"/>
            <a:ext cx="11410950" cy="1228725"/>
          </a:xfrm>
        </p:spPr>
        <p:txBody>
          <a:bodyPr vert="horz" wrap="square" lIns="91440" tIns="45720" rIns="91440" bIns="45720" anchor="ctr" anchorCtr="0"/>
          <a:lstStyle/>
          <a:p>
            <a:pPr eaLnBrk="1" hangingPunct="1"/>
            <a:r>
              <a:rPr lang="en-IN" altLang="en-US" b="1" dirty="0">
                <a:solidFill>
                  <a:srgbClr val="00B0F0"/>
                </a:solidFill>
                <a:latin typeface="Times New Roman" panose="02020603050405020304" pitchFamily="18" charset="0"/>
              </a:rPr>
              <a:t>Hardware Requirement Specifications (HRS)</a:t>
            </a:r>
          </a:p>
        </p:txBody>
      </p:sp>
      <p:sp>
        <p:nvSpPr>
          <p:cNvPr id="20484"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12</a:t>
            </a:fld>
            <a:endParaRPr lang="en-IN" altLang="en-US" sz="1200" b="1" dirty="0">
              <a:solidFill>
                <a:srgbClr val="C00000"/>
              </a:solidFill>
            </a:endParaRPr>
          </a:p>
        </p:txBody>
      </p:sp>
      <p:pic>
        <p:nvPicPr>
          <p:cNvPr id="20485" name="Picture 5"/>
          <p:cNvPicPr/>
          <p:nvPr/>
        </p:nvPicPr>
        <p:blipFill>
          <a:blip r:embed="rId2"/>
          <a:stretch>
            <a:fillRect/>
          </a:stretch>
        </p:blipFill>
        <p:spPr>
          <a:xfrm>
            <a:off x="11290300" y="0"/>
            <a:ext cx="901700" cy="993775"/>
          </a:xfrm>
          <a:prstGeom prst="rect">
            <a:avLst/>
          </a:prstGeom>
          <a:noFill/>
          <a:ln w="9525">
            <a:noFill/>
          </a:ln>
        </p:spPr>
      </p:pic>
      <p:pic>
        <p:nvPicPr>
          <p:cNvPr id="20486"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6FD62A33-4545-1CCF-68CB-83AA39897C9B}"/>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8" name="TextBox 4">
            <a:extLst>
              <a:ext uri="{FF2B5EF4-FFF2-40B4-BE49-F238E27FC236}">
                <a16:creationId xmlns:a16="http://schemas.microsoft.com/office/drawing/2014/main" id="{F6766889-D132-8959-93D5-15CC6899F58E}"/>
              </a:ext>
            </a:extLst>
          </p:cNvPr>
          <p:cNvSpPr txBox="1"/>
          <p:nvPr/>
        </p:nvSpPr>
        <p:spPr>
          <a:xfrm>
            <a:off x="440152" y="1403330"/>
            <a:ext cx="11639072" cy="389286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IN" sz="2800" dirty="0">
                <a:solidFill>
                  <a:srgbClr val="000000"/>
                </a:solidFill>
                <a:latin typeface="Times New Roman" panose="02020603050405020304" pitchFamily="18" charset="0"/>
                <a:cs typeface="Times New Roman" panose="02020603050405020304" pitchFamily="18" charset="0"/>
              </a:rPr>
              <a:t> - CPU: Intel Core i5 or AMD </a:t>
            </a:r>
            <a:r>
              <a:rPr lang="en-IN" sz="2800" dirty="0" err="1">
                <a:solidFill>
                  <a:srgbClr val="000000"/>
                </a:solidFill>
                <a:latin typeface="Times New Roman" panose="02020603050405020304" pitchFamily="18" charset="0"/>
                <a:cs typeface="Times New Roman" panose="02020603050405020304" pitchFamily="18" charset="0"/>
              </a:rPr>
              <a:t>Ryzen</a:t>
            </a:r>
            <a:r>
              <a:rPr lang="en-IN" sz="2800" dirty="0">
                <a:solidFill>
                  <a:srgbClr val="000000"/>
                </a:solidFill>
                <a:latin typeface="Times New Roman" panose="02020603050405020304" pitchFamily="18" charset="0"/>
                <a:cs typeface="Times New Roman" panose="02020603050405020304" pitchFamily="18" charset="0"/>
              </a:rPr>
              <a:t> 5+</a:t>
            </a:r>
          </a:p>
          <a:p>
            <a:pPr>
              <a:lnSpc>
                <a:spcPct val="150000"/>
              </a:lnSpc>
            </a:pPr>
            <a:r>
              <a:rPr lang="en-IN" sz="2800" dirty="0">
                <a:solidFill>
                  <a:srgbClr val="000000"/>
                </a:solidFill>
                <a:latin typeface="Times New Roman" panose="02020603050405020304" pitchFamily="18" charset="0"/>
                <a:cs typeface="Times New Roman" panose="02020603050405020304" pitchFamily="18" charset="0"/>
              </a:rPr>
              <a:t>  - RAM: 8GB+ (16GB recommended for local LLM)</a:t>
            </a:r>
          </a:p>
          <a:p>
            <a:pPr>
              <a:lnSpc>
                <a:spcPct val="150000"/>
              </a:lnSpc>
            </a:pPr>
            <a:r>
              <a:rPr lang="en-IN" sz="2800" dirty="0">
                <a:solidFill>
                  <a:srgbClr val="000000"/>
                </a:solidFill>
                <a:latin typeface="Times New Roman" panose="02020603050405020304" pitchFamily="18" charset="0"/>
                <a:cs typeface="Times New Roman" panose="02020603050405020304" pitchFamily="18" charset="0"/>
              </a:rPr>
              <a:t>  - GPU: NVIDIA GPU with 4GB+ VRAM for faster inference (Optional)</a:t>
            </a:r>
          </a:p>
          <a:p>
            <a:pPr>
              <a:lnSpc>
                <a:spcPct val="150000"/>
              </a:lnSpc>
            </a:pPr>
            <a:r>
              <a:rPr lang="en-IN" sz="2800" dirty="0">
                <a:solidFill>
                  <a:srgbClr val="000000"/>
                </a:solidFill>
                <a:latin typeface="Times New Roman" panose="02020603050405020304" pitchFamily="18" charset="0"/>
                <a:cs typeface="Times New Roman" panose="02020603050405020304" pitchFamily="18" charset="0"/>
              </a:rPr>
              <a:t>  - Storage: 20GB+ free SSD space (for models, </a:t>
            </a:r>
            <a:r>
              <a:rPr lang="en-IN" sz="2800" dirty="0" err="1">
                <a:solidFill>
                  <a:srgbClr val="000000"/>
                </a:solidFill>
                <a:latin typeface="Times New Roman" panose="02020603050405020304" pitchFamily="18" charset="0"/>
                <a:cs typeface="Times New Roman" panose="02020603050405020304" pitchFamily="18" charset="0"/>
              </a:rPr>
              <a:t>ChromaDB</a:t>
            </a:r>
            <a:r>
              <a:rPr lang="en-IN" sz="2800" dirty="0">
                <a:solidFill>
                  <a:srgbClr val="000000"/>
                </a:solidFill>
                <a:latin typeface="Times New Roman" panose="02020603050405020304" pitchFamily="18" charset="0"/>
                <a:cs typeface="Times New Roman" panose="02020603050405020304" pitchFamily="18" charset="0"/>
              </a:rPr>
              <a:t> index, and documents)</a:t>
            </a:r>
          </a:p>
          <a:p>
            <a:pPr>
              <a:lnSpc>
                <a:spcPct val="150000"/>
              </a:lnSpc>
            </a:pPr>
            <a:r>
              <a:rPr lang="en-IN" sz="2800" dirty="0">
                <a:solidFill>
                  <a:srgbClr val="000000"/>
                </a:solidFill>
                <a:latin typeface="Times New Roman" panose="02020603050405020304" pitchFamily="18" charset="0"/>
                <a:cs typeface="Times New Roman" panose="02020603050405020304" pitchFamily="18" charset="0"/>
              </a:rPr>
              <a:t>  - Internet: Required only for initial setup and dependency download</a:t>
            </a:r>
            <a:endParaRPr lang="en-IN" sz="2800" i="0" u="none" strike="noStrike" baseline="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3634-78A3-B1BF-E869-E1102EA2A60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26EFF4-82DD-D4A7-E1FB-BE4F5B72B727}"/>
              </a:ext>
            </a:extLst>
          </p:cNvPr>
          <p:cNvSpPr>
            <a:spLocks noGrp="1"/>
          </p:cNvSpPr>
          <p:nvPr>
            <p:ph type="ctrTitle"/>
          </p:nvPr>
        </p:nvSpPr>
        <p:spPr>
          <a:xfrm>
            <a:off x="2667000" y="2535788"/>
            <a:ext cx="6858000" cy="1786424"/>
          </a:xfrm>
        </p:spPr>
        <p:txBody>
          <a:bodyPr vert="horz" wrap="square" lIns="91440" tIns="45720" rIns="91440" bIns="45720" numCol="1" rtlCol="0" anchor="b" anchorCtr="0" compatLnSpc="1">
            <a:normAutofit/>
          </a:bodyPr>
          <a:lstStyle/>
          <a:p>
            <a:r>
              <a:rPr lang="en-US" altLang="zh-CN" b="1" dirty="0">
                <a:solidFill>
                  <a:srgbClr val="00B0F0"/>
                </a:solidFill>
                <a:latin typeface="Times New Roman" panose="02020603050405020304" pitchFamily="18" charset="0"/>
                <a:ea typeface="SimSun" panose="02010600030101010101" pitchFamily="2" charset="-122"/>
              </a:rPr>
              <a:t>System Models</a:t>
            </a:r>
            <a:br>
              <a:rPr lang="en-US" altLang="zh-CN" b="1" dirty="0">
                <a:solidFill>
                  <a:srgbClr val="00B0F0"/>
                </a:solidFill>
                <a:latin typeface="Times New Roman" panose="02020603050405020304" pitchFamily="18" charset="0"/>
                <a:ea typeface="SimSun" panose="02010600030101010101" pitchFamily="2" charset="-122"/>
              </a:rPr>
            </a:br>
            <a:r>
              <a:rPr lang="en-US" altLang="zh-CN" sz="4800" b="1" dirty="0">
                <a:solidFill>
                  <a:srgbClr val="00B0F0"/>
                </a:solidFill>
                <a:latin typeface="Times New Roman" panose="02020603050405020304" pitchFamily="18" charset="0"/>
                <a:ea typeface="SimSun" panose="02010600030101010101" pitchFamily="2" charset="-122"/>
              </a:rPr>
              <a:t>(UML Diagrams)</a:t>
            </a:r>
            <a:r>
              <a:rPr lang="en-US" altLang="zh-CN" b="1" dirty="0">
                <a:solidFill>
                  <a:srgbClr val="00B0F0"/>
                </a:solidFill>
                <a:latin typeface="Times New Roman" panose="02020603050405020304" pitchFamily="18" charset="0"/>
                <a:ea typeface="SimSun" panose="02010600030101010101" pitchFamily="2" charset="-122"/>
              </a:rPr>
              <a:t>         </a:t>
            </a:r>
          </a:p>
        </p:txBody>
      </p:sp>
      <p:sp>
        <p:nvSpPr>
          <p:cNvPr id="18435" name="Slide Number Placeholder 1">
            <a:extLst>
              <a:ext uri="{FF2B5EF4-FFF2-40B4-BE49-F238E27FC236}">
                <a16:creationId xmlns:a16="http://schemas.microsoft.com/office/drawing/2014/main" id="{7AA2CBA4-730C-2494-22E5-1A382157D6E2}"/>
              </a:ext>
            </a:extLst>
          </p:cNvPr>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13</a:t>
            </a:fld>
            <a:endParaRPr lang="en-IN" altLang="en-US" sz="1200" b="1" dirty="0">
              <a:solidFill>
                <a:srgbClr val="C00000"/>
              </a:solidFill>
            </a:endParaRPr>
          </a:p>
        </p:txBody>
      </p:sp>
      <p:pic>
        <p:nvPicPr>
          <p:cNvPr id="18436" name="Picture 5">
            <a:extLst>
              <a:ext uri="{FF2B5EF4-FFF2-40B4-BE49-F238E27FC236}">
                <a16:creationId xmlns:a16="http://schemas.microsoft.com/office/drawing/2014/main" id="{0DFD0707-5B73-B6FC-DFA6-3250F37977EA}"/>
              </a:ext>
            </a:extLst>
          </p:cNvPr>
          <p:cNvPicPr/>
          <p:nvPr/>
        </p:nvPicPr>
        <p:blipFill>
          <a:blip r:embed="rId2"/>
          <a:stretch>
            <a:fillRect/>
          </a:stretch>
        </p:blipFill>
        <p:spPr>
          <a:xfrm>
            <a:off x="11290300" y="0"/>
            <a:ext cx="901700" cy="993775"/>
          </a:xfrm>
          <a:prstGeom prst="rect">
            <a:avLst/>
          </a:prstGeom>
          <a:noFill/>
          <a:ln w="9525">
            <a:noFill/>
          </a:ln>
        </p:spPr>
      </p:pic>
      <p:pic>
        <p:nvPicPr>
          <p:cNvPr id="18437" name="Picture 5">
            <a:extLst>
              <a:ext uri="{FF2B5EF4-FFF2-40B4-BE49-F238E27FC236}">
                <a16:creationId xmlns:a16="http://schemas.microsoft.com/office/drawing/2014/main" id="{7EFB00E4-76D5-BB33-2CF9-5743FFB3D517}"/>
              </a:ext>
            </a:extLst>
          </p:cNvPr>
          <p:cNvPicPr/>
          <p:nvPr/>
        </p:nvPicPr>
        <p:blipFill>
          <a:blip r:embed="rId2"/>
          <a:stretch>
            <a:fillRect/>
          </a:stretch>
        </p:blipFill>
        <p:spPr>
          <a:xfrm>
            <a:off x="11290300" y="0"/>
            <a:ext cx="901700" cy="993775"/>
          </a:xfrm>
          <a:prstGeom prst="rect">
            <a:avLst/>
          </a:prstGeom>
          <a:noFill/>
          <a:ln w="9525">
            <a:noFill/>
          </a:ln>
        </p:spPr>
      </p:pic>
      <p:sp>
        <p:nvSpPr>
          <p:cNvPr id="5" name="Rounded Rectangle 4">
            <a:extLst>
              <a:ext uri="{FF2B5EF4-FFF2-40B4-BE49-F238E27FC236}">
                <a16:creationId xmlns:a16="http://schemas.microsoft.com/office/drawing/2014/main" id="{44E5A3F2-96BF-4BFB-C132-0178456D4F8F}"/>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6" name="Rectangle 5">
            <a:extLst>
              <a:ext uri="{FF2B5EF4-FFF2-40B4-BE49-F238E27FC236}">
                <a16:creationId xmlns:a16="http://schemas.microsoft.com/office/drawing/2014/main" id="{E0148D5F-4DDF-9322-E1DA-F0ADE2266748}"/>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8440" name="Picture 6">
            <a:extLst>
              <a:ext uri="{FF2B5EF4-FFF2-40B4-BE49-F238E27FC236}">
                <a16:creationId xmlns:a16="http://schemas.microsoft.com/office/drawing/2014/main" id="{83DF480D-C182-C5C2-CA14-43247CBBA437}"/>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37C68F30-D36D-AE66-B5C4-B10B21BAD7B8}"/>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6C599082-6147-FDE7-4C50-CBC87D867FE4}"/>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3807123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13A09-EE5D-5CAD-6FB1-30D702B46E23}"/>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DE983804-DE26-4E11-17E2-C90E550465FB}"/>
              </a:ext>
            </a:extLst>
          </p:cNvPr>
          <p:cNvSpPr>
            <a:spLocks noGrp="1"/>
          </p:cNvSpPr>
          <p:nvPr>
            <p:ph type="title"/>
          </p:nvPr>
        </p:nvSpPr>
        <p:spPr>
          <a:xfrm>
            <a:off x="400050" y="495300"/>
            <a:ext cx="11410950" cy="1228725"/>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Use Case Diagram</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B4E9968D-F537-8E1E-3175-FE4BC1C2E755}"/>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14</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72186139-B48B-C60B-EA12-ECCA4DBA3390}"/>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D53524B4-A54F-62CA-C855-BDEB4E3E7BF0}"/>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65F29720-2596-532C-FD42-1A26DC090FF0}"/>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6EF6F4FD-74C5-F2FD-D93F-16B3FD60355C}"/>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999814BB-8378-E0DE-8C22-981DD830AEB4}"/>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E174207A-0285-BFB6-B23C-5D385FAC99BE}"/>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C53924A1-08A8-DF58-C811-128D0011CADF}"/>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EB8E820-DE36-494F-52A0-48166463CE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1156" y="541512"/>
            <a:ext cx="5546700" cy="5935488"/>
          </a:xfrm>
          <a:prstGeom prst="rect">
            <a:avLst/>
          </a:prstGeom>
        </p:spPr>
      </p:pic>
    </p:spTree>
    <p:extLst>
      <p:ext uri="{BB962C8B-B14F-4D97-AF65-F5344CB8AC3E}">
        <p14:creationId xmlns:p14="http://schemas.microsoft.com/office/powerpoint/2010/main" val="68638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6944-75EC-7305-2848-AE5C63A8C8BD}"/>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7BABEF4F-6C02-11AD-44DB-C113C3302C59}"/>
              </a:ext>
            </a:extLst>
          </p:cNvPr>
          <p:cNvSpPr>
            <a:spLocks noGrp="1"/>
          </p:cNvSpPr>
          <p:nvPr>
            <p:ph type="title"/>
          </p:nvPr>
        </p:nvSpPr>
        <p:spPr>
          <a:xfrm>
            <a:off x="400050" y="495300"/>
            <a:ext cx="11410950" cy="1228725"/>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Class Diagram</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CDE6A6C3-7724-8C91-678D-09C890AA3671}"/>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15</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A765E5AD-3179-1E9C-C6AB-2E5C0B6C38E9}"/>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9AF52CF8-2A0E-C8B1-3BFC-2EAE2A33C605}"/>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7FF5348F-C0E2-18F4-F7A3-29615916A3FB}"/>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AFFD9F7B-871C-443D-6DD5-874D0FD564D9}"/>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87C1D259-4FB9-C698-F95E-904C76D20B34}"/>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34183FFE-6222-7AE7-D77E-120C31F9FC8E}"/>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B5C484B3-71A2-1F5D-79A6-1C0121632D73}"/>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316ABEC-EB34-C6DF-8953-3639802CF1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3108" y="1435608"/>
            <a:ext cx="6265784" cy="4927092"/>
          </a:xfrm>
          <a:prstGeom prst="rect">
            <a:avLst/>
          </a:prstGeom>
        </p:spPr>
      </p:pic>
    </p:spTree>
    <p:extLst>
      <p:ext uri="{BB962C8B-B14F-4D97-AF65-F5344CB8AC3E}">
        <p14:creationId xmlns:p14="http://schemas.microsoft.com/office/powerpoint/2010/main" val="2012160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C623-9F7D-6310-B70C-C7C7A9FB534C}"/>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96CC0239-855F-CE46-93F0-68B8EB6CF6EC}"/>
              </a:ext>
            </a:extLst>
          </p:cNvPr>
          <p:cNvSpPr>
            <a:spLocks noGrp="1"/>
          </p:cNvSpPr>
          <p:nvPr>
            <p:ph type="title"/>
          </p:nvPr>
        </p:nvSpPr>
        <p:spPr>
          <a:xfrm>
            <a:off x="288083" y="355775"/>
            <a:ext cx="4778439" cy="768351"/>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Sequence Diagram</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1F856397-AC95-25ED-3D8A-87F8E208E0EC}"/>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16</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4422EDDB-D453-8C47-0B8A-A9585AA7086B}"/>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FBF80764-3936-9EFA-71E9-AE481BE9FCBD}"/>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949C9BE0-7784-AD13-2F30-70CBEBB5B24D}"/>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77495C14-9E01-AE87-E717-78F663A3A26B}"/>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2B8159DC-A384-3018-2E4E-697742CC3F14}"/>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949B57DA-D24F-7CAE-73FC-77C9A4F87742}"/>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3F0A47E4-B00D-BB5F-8FA9-9709C0FF982F}"/>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FE82C8B-3BB7-AB88-D9AA-241746781F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6823" y="1124126"/>
            <a:ext cx="8098354" cy="5329236"/>
          </a:xfrm>
          <a:prstGeom prst="rect">
            <a:avLst/>
          </a:prstGeom>
        </p:spPr>
      </p:pic>
    </p:spTree>
    <p:extLst>
      <p:ext uri="{BB962C8B-B14F-4D97-AF65-F5344CB8AC3E}">
        <p14:creationId xmlns:p14="http://schemas.microsoft.com/office/powerpoint/2010/main" val="3399415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235CE-F551-6B4C-69EB-3A7D198E8E1B}"/>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D4E50B33-BE07-2965-C752-F9AC334D144F}"/>
              </a:ext>
            </a:extLst>
          </p:cNvPr>
          <p:cNvSpPr>
            <a:spLocks noGrp="1"/>
          </p:cNvSpPr>
          <p:nvPr>
            <p:ph type="title"/>
          </p:nvPr>
        </p:nvSpPr>
        <p:spPr>
          <a:xfrm>
            <a:off x="288084" y="355775"/>
            <a:ext cx="4451868" cy="638000"/>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Activity Diagram</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3BF2087C-6CB0-80B8-192D-1363DF545D2F}"/>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17</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B7DF6F4D-A15A-4002-4EE4-4A033E382BB2}"/>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222573BC-5A4B-F4CC-924A-9883E843248C}"/>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41096689-C27F-46AA-AD85-51D720D38A8F}"/>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A7BC58F0-E44D-F6A3-EBA8-10FEFC3C1903}"/>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54025A3E-43B2-6204-AA2D-92B11F215618}"/>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93C45194-802D-ECDF-62E7-A4157E260836}"/>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AC05D22C-1EF2-E1C5-F1B1-43354C68EA2D}"/>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64B1373-4D76-7D69-A7FC-52003CFF2E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6861" y="993774"/>
            <a:ext cx="5539989" cy="5370449"/>
          </a:xfrm>
          <a:prstGeom prst="rect">
            <a:avLst/>
          </a:prstGeom>
        </p:spPr>
      </p:pic>
    </p:spTree>
    <p:extLst>
      <p:ext uri="{BB962C8B-B14F-4D97-AF65-F5344CB8AC3E}">
        <p14:creationId xmlns:p14="http://schemas.microsoft.com/office/powerpoint/2010/main" val="4173999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3342B-891A-F371-47FC-47D3E1938A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CB40CB-A4AB-C0F2-0DCE-0F1C4D0FCFB1}"/>
              </a:ext>
            </a:extLst>
          </p:cNvPr>
          <p:cNvSpPr>
            <a:spLocks noGrp="1"/>
          </p:cNvSpPr>
          <p:nvPr>
            <p:ph type="ctrTitle"/>
          </p:nvPr>
        </p:nvSpPr>
        <p:spPr>
          <a:xfrm>
            <a:off x="2667000" y="2535788"/>
            <a:ext cx="6858000" cy="1786424"/>
          </a:xfrm>
        </p:spPr>
        <p:txBody>
          <a:bodyPr vert="horz" wrap="square" lIns="91440" tIns="45720" rIns="91440" bIns="45720" numCol="1" rtlCol="0" anchor="b" anchorCtr="0" compatLnSpc="1">
            <a:normAutofit/>
          </a:bodyPr>
          <a:lstStyle/>
          <a:p>
            <a:r>
              <a:rPr lang="en-US" altLang="zh-CN" b="1" dirty="0">
                <a:solidFill>
                  <a:srgbClr val="00B0F0"/>
                </a:solidFill>
                <a:latin typeface="Times New Roman" panose="02020603050405020304" pitchFamily="18" charset="0"/>
                <a:ea typeface="SimSun" panose="02010600030101010101" pitchFamily="2" charset="-122"/>
              </a:rPr>
              <a:t>Implementation</a:t>
            </a:r>
            <a:br>
              <a:rPr lang="en-US" altLang="zh-CN" b="1" dirty="0">
                <a:solidFill>
                  <a:srgbClr val="00B0F0"/>
                </a:solidFill>
                <a:latin typeface="Times New Roman" panose="02020603050405020304" pitchFamily="18" charset="0"/>
                <a:ea typeface="SimSun" panose="02010600030101010101" pitchFamily="2" charset="-122"/>
              </a:rPr>
            </a:br>
            <a:endParaRPr lang="en-US" altLang="zh-CN" b="1" dirty="0">
              <a:solidFill>
                <a:srgbClr val="00B0F0"/>
              </a:solidFill>
              <a:latin typeface="Times New Roman" panose="02020603050405020304" pitchFamily="18" charset="0"/>
              <a:ea typeface="SimSun" panose="02010600030101010101" pitchFamily="2" charset="-122"/>
            </a:endParaRPr>
          </a:p>
        </p:txBody>
      </p:sp>
      <p:sp>
        <p:nvSpPr>
          <p:cNvPr id="18435" name="Slide Number Placeholder 1">
            <a:extLst>
              <a:ext uri="{FF2B5EF4-FFF2-40B4-BE49-F238E27FC236}">
                <a16:creationId xmlns:a16="http://schemas.microsoft.com/office/drawing/2014/main" id="{09AF6230-6D91-6102-02F5-0FC0346E4B0D}"/>
              </a:ext>
            </a:extLst>
          </p:cNvPr>
          <p:cNvSpPr txBox="1">
            <a:spLocks noGrp="1"/>
          </p:cNvSpPr>
          <p:nvPr>
            <p:ph type="sldNum" sz="quarter" idx="4"/>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18</a:t>
            </a:fld>
            <a:endParaRPr lang="en-IN" altLang="en-US" sz="1200" b="1" dirty="0">
              <a:solidFill>
                <a:srgbClr val="C00000"/>
              </a:solidFill>
            </a:endParaRPr>
          </a:p>
        </p:txBody>
      </p:sp>
      <p:pic>
        <p:nvPicPr>
          <p:cNvPr id="18436" name="Picture 5">
            <a:extLst>
              <a:ext uri="{FF2B5EF4-FFF2-40B4-BE49-F238E27FC236}">
                <a16:creationId xmlns:a16="http://schemas.microsoft.com/office/drawing/2014/main" id="{0E793722-FFAB-BB30-A1DE-1067F567D7DD}"/>
              </a:ext>
            </a:extLst>
          </p:cNvPr>
          <p:cNvPicPr/>
          <p:nvPr/>
        </p:nvPicPr>
        <p:blipFill>
          <a:blip r:embed="rId2"/>
          <a:stretch>
            <a:fillRect/>
          </a:stretch>
        </p:blipFill>
        <p:spPr>
          <a:xfrm>
            <a:off x="11290300" y="0"/>
            <a:ext cx="901700" cy="993775"/>
          </a:xfrm>
          <a:prstGeom prst="rect">
            <a:avLst/>
          </a:prstGeom>
          <a:noFill/>
          <a:ln w="9525">
            <a:noFill/>
          </a:ln>
        </p:spPr>
      </p:pic>
      <p:pic>
        <p:nvPicPr>
          <p:cNvPr id="18437" name="Picture 5">
            <a:extLst>
              <a:ext uri="{FF2B5EF4-FFF2-40B4-BE49-F238E27FC236}">
                <a16:creationId xmlns:a16="http://schemas.microsoft.com/office/drawing/2014/main" id="{169BA131-4D24-5866-47C0-0FDE2FECE368}"/>
              </a:ext>
            </a:extLst>
          </p:cNvPr>
          <p:cNvPicPr/>
          <p:nvPr/>
        </p:nvPicPr>
        <p:blipFill>
          <a:blip r:embed="rId2"/>
          <a:stretch>
            <a:fillRect/>
          </a:stretch>
        </p:blipFill>
        <p:spPr>
          <a:xfrm>
            <a:off x="11290300" y="0"/>
            <a:ext cx="901700" cy="993775"/>
          </a:xfrm>
          <a:prstGeom prst="rect">
            <a:avLst/>
          </a:prstGeom>
          <a:noFill/>
          <a:ln w="9525">
            <a:noFill/>
          </a:ln>
        </p:spPr>
      </p:pic>
      <p:sp>
        <p:nvSpPr>
          <p:cNvPr id="5" name="Rounded Rectangle 4">
            <a:extLst>
              <a:ext uri="{FF2B5EF4-FFF2-40B4-BE49-F238E27FC236}">
                <a16:creationId xmlns:a16="http://schemas.microsoft.com/office/drawing/2014/main" id="{24078241-4EA7-CAF4-0FD0-5169AB5E71A9}"/>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6" name="Rectangle 5">
            <a:extLst>
              <a:ext uri="{FF2B5EF4-FFF2-40B4-BE49-F238E27FC236}">
                <a16:creationId xmlns:a16="http://schemas.microsoft.com/office/drawing/2014/main" id="{9C40F00C-0D7D-11E1-BF40-FAD6593C8E0B}"/>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8440" name="Picture 6">
            <a:extLst>
              <a:ext uri="{FF2B5EF4-FFF2-40B4-BE49-F238E27FC236}">
                <a16:creationId xmlns:a16="http://schemas.microsoft.com/office/drawing/2014/main" id="{313D4787-A5C0-3268-6090-F3904D5A8007}"/>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59F4E2DC-E4D9-A2AD-3D5E-87E8DD54E810}"/>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0012D92D-B7B1-D240-D2AB-4A05DF5C1C90}"/>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Tree>
    <p:extLst>
      <p:ext uri="{BB962C8B-B14F-4D97-AF65-F5344CB8AC3E}">
        <p14:creationId xmlns:p14="http://schemas.microsoft.com/office/powerpoint/2010/main" val="610568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38696-821B-A99B-F0FC-1960035B6BC6}"/>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CDFAF04D-D2C0-8E4E-F631-F596BCDF81F2}"/>
              </a:ext>
            </a:extLst>
          </p:cNvPr>
          <p:cNvSpPr>
            <a:spLocks noGrp="1"/>
          </p:cNvSpPr>
          <p:nvPr>
            <p:ph type="title"/>
          </p:nvPr>
        </p:nvSpPr>
        <p:spPr>
          <a:xfrm>
            <a:off x="288084" y="355775"/>
            <a:ext cx="4451868" cy="638000"/>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Chat </a:t>
            </a:r>
            <a:r>
              <a:rPr lang="en-US" altLang="en-US" b="1" dirty="0" err="1">
                <a:solidFill>
                  <a:srgbClr val="00B0F0"/>
                </a:solidFill>
                <a:latin typeface="Times New Roman" panose="02020603050405020304" pitchFamily="18" charset="0"/>
              </a:rPr>
              <a:t>Inteface</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4027163A-A818-47CC-5A86-451917875B58}"/>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19</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D522D18F-FF5E-9715-6135-60A15E70C304}"/>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4FBB44C1-4C9F-3E35-55D7-58BDD8BAA00A}"/>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F1917718-8103-1F3D-D199-BFCA2F38C4BB}"/>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5B58C5C6-4D94-7BC1-B97A-8EF27CC43F67}"/>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1953BC2C-0F3B-075D-9562-667F58DAD3A8}"/>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9D2B8D96-DCCC-A985-6C48-B05D7F024129}"/>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90D95BD4-04AA-0B31-D853-0D71A7CD607A}"/>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5BBF930-C995-7012-7AF8-E5799678CC43}"/>
              </a:ext>
            </a:extLst>
          </p:cNvPr>
          <p:cNvPicPr>
            <a:picLocks noChangeAspect="1"/>
          </p:cNvPicPr>
          <p:nvPr/>
        </p:nvPicPr>
        <p:blipFill>
          <a:blip r:embed="rId4"/>
          <a:stretch>
            <a:fillRect/>
          </a:stretch>
        </p:blipFill>
        <p:spPr>
          <a:xfrm>
            <a:off x="1417638" y="1147763"/>
            <a:ext cx="9021762" cy="5074742"/>
          </a:xfrm>
          <a:prstGeom prst="rect">
            <a:avLst/>
          </a:prstGeom>
        </p:spPr>
      </p:pic>
    </p:spTree>
    <p:extLst>
      <p:ext uri="{BB962C8B-B14F-4D97-AF65-F5344CB8AC3E}">
        <p14:creationId xmlns:p14="http://schemas.microsoft.com/office/powerpoint/2010/main" val="3583827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E6F7A-E04F-DACD-53DC-2DB3713FA6BA}"/>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E5879FC3-EF83-9E82-C3F6-F3B01E7CD9FC}"/>
              </a:ext>
            </a:extLst>
          </p:cNvPr>
          <p:cNvSpPr>
            <a:spLocks noGrp="1"/>
          </p:cNvSpPr>
          <p:nvPr>
            <p:ph type="title"/>
          </p:nvPr>
        </p:nvSpPr>
        <p:spPr>
          <a:xfrm>
            <a:off x="288084" y="355775"/>
            <a:ext cx="10474404" cy="638000"/>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Query Response With Source Attribution</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F458CE80-1DA4-CD8B-0C7B-D7EFF2D8CDEA}"/>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20</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20C17D0F-8AEB-6AB6-33C0-50BEE05BF5B7}"/>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4A7F5C0D-49D5-547A-7AD4-A6BE7D6FA142}"/>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892AEDFB-A3FE-99A5-0F47-81CEAC7BD44F}"/>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269ED405-E3D9-2718-D85E-73C5CF464D93}"/>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461BF7EE-9D08-C20C-35D2-90E5A7278210}"/>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84BE5B68-DB4A-D8B8-F91D-49815C221F36}"/>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C26CC144-86EA-E59F-6C03-9859123EEE4D}"/>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0138934-E922-6E86-0E7B-E523357EFF41}"/>
              </a:ext>
            </a:extLst>
          </p:cNvPr>
          <p:cNvPicPr>
            <a:picLocks noChangeAspect="1"/>
          </p:cNvPicPr>
          <p:nvPr/>
        </p:nvPicPr>
        <p:blipFill>
          <a:blip r:embed="rId4"/>
          <a:stretch>
            <a:fillRect/>
          </a:stretch>
        </p:blipFill>
        <p:spPr>
          <a:xfrm>
            <a:off x="1542288" y="1293812"/>
            <a:ext cx="8897112" cy="5004626"/>
          </a:xfrm>
          <a:prstGeom prst="rect">
            <a:avLst/>
          </a:prstGeom>
        </p:spPr>
      </p:pic>
    </p:spTree>
    <p:extLst>
      <p:ext uri="{BB962C8B-B14F-4D97-AF65-F5344CB8AC3E}">
        <p14:creationId xmlns:p14="http://schemas.microsoft.com/office/powerpoint/2010/main" val="2606266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16A83-8CB7-6E0C-8378-45F545FFD28B}"/>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62F70A7A-F203-75EF-8E08-EA1213FEBB46}"/>
              </a:ext>
            </a:extLst>
          </p:cNvPr>
          <p:cNvSpPr>
            <a:spLocks noGrp="1"/>
          </p:cNvSpPr>
          <p:nvPr>
            <p:ph type="title"/>
          </p:nvPr>
        </p:nvSpPr>
        <p:spPr>
          <a:xfrm>
            <a:off x="288084" y="355775"/>
            <a:ext cx="9706308" cy="638000"/>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Document upload and Ingestion screen</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4FECDB8A-6F72-6725-02CD-21F67396B724}"/>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21</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E45DFF7E-28C8-A70C-720D-E53C5D709C35}"/>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62A81EF8-9FB5-358C-A30B-3BC7DF704D0E}"/>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AD843829-A915-805B-6841-481361A63AEC}"/>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90A48081-8102-DACB-5CFB-3684152D0F89}"/>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C5B714C7-5B73-5F31-A87B-8E1E889F1D8C}"/>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5AD100F9-312B-F3F6-C900-AEB59CFFCF87}"/>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3E843C7F-D532-999D-3556-E946810DB6B4}"/>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F7D8F7E5-AAD0-C8D7-1272-87D0AE78F46F}"/>
              </a:ext>
            </a:extLst>
          </p:cNvPr>
          <p:cNvPicPr>
            <a:picLocks noChangeAspect="1"/>
          </p:cNvPicPr>
          <p:nvPr/>
        </p:nvPicPr>
        <p:blipFill>
          <a:blip r:embed="rId4"/>
          <a:stretch>
            <a:fillRect/>
          </a:stretch>
        </p:blipFill>
        <p:spPr>
          <a:xfrm>
            <a:off x="1314196" y="1006603"/>
            <a:ext cx="9204579" cy="5177576"/>
          </a:xfrm>
          <a:prstGeom prst="rect">
            <a:avLst/>
          </a:prstGeom>
        </p:spPr>
      </p:pic>
    </p:spTree>
    <p:extLst>
      <p:ext uri="{BB962C8B-B14F-4D97-AF65-F5344CB8AC3E}">
        <p14:creationId xmlns:p14="http://schemas.microsoft.com/office/powerpoint/2010/main" val="2853066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F3D8-F99C-A086-1E7F-F75BB6F2EAAD}"/>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8DCFAADA-344D-B194-F6DA-426DCC281C3F}"/>
              </a:ext>
            </a:extLst>
          </p:cNvPr>
          <p:cNvSpPr>
            <a:spLocks noGrp="1"/>
          </p:cNvSpPr>
          <p:nvPr>
            <p:ph type="title"/>
          </p:nvPr>
        </p:nvSpPr>
        <p:spPr>
          <a:xfrm>
            <a:off x="288084" y="355775"/>
            <a:ext cx="4451868" cy="638000"/>
          </a:xfrm>
        </p:spPr>
        <p:txBody>
          <a:bodyPr vert="horz" wrap="square" lIns="91440" tIns="45720" rIns="91440" bIns="45720" anchor="ctr" anchorCtr="0"/>
          <a:lstStyle/>
          <a:p>
            <a:pPr eaLnBrk="1" hangingPunct="1"/>
            <a:r>
              <a:rPr lang="en-US" altLang="en-US" b="1" dirty="0">
                <a:solidFill>
                  <a:srgbClr val="00B0F0"/>
                </a:solidFill>
                <a:latin typeface="Times New Roman" panose="02020603050405020304" pitchFamily="18" charset="0"/>
              </a:rPr>
              <a:t>About Screen</a:t>
            </a:r>
            <a:endParaRPr lang="en-IN" altLang="en-US" b="1" dirty="0">
              <a:solidFill>
                <a:srgbClr val="00B0F0"/>
              </a:solidFill>
              <a:latin typeface="Times New Roman" panose="02020603050405020304" pitchFamily="18" charset="0"/>
            </a:endParaRPr>
          </a:p>
        </p:txBody>
      </p:sp>
      <p:sp>
        <p:nvSpPr>
          <p:cNvPr id="20484" name="Slide Number Placeholder 1">
            <a:extLst>
              <a:ext uri="{FF2B5EF4-FFF2-40B4-BE49-F238E27FC236}">
                <a16:creationId xmlns:a16="http://schemas.microsoft.com/office/drawing/2014/main" id="{F3F5CDC6-A9B5-CC99-A28E-48D5B003CADB}"/>
              </a:ext>
            </a:extLst>
          </p:cNvPr>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22</a:t>
            </a:fld>
            <a:endParaRPr lang="en-IN" altLang="en-US" sz="1200" b="1" dirty="0">
              <a:solidFill>
                <a:srgbClr val="C00000"/>
              </a:solidFill>
            </a:endParaRPr>
          </a:p>
        </p:txBody>
      </p:sp>
      <p:pic>
        <p:nvPicPr>
          <p:cNvPr id="20485" name="Picture 5">
            <a:extLst>
              <a:ext uri="{FF2B5EF4-FFF2-40B4-BE49-F238E27FC236}">
                <a16:creationId xmlns:a16="http://schemas.microsoft.com/office/drawing/2014/main" id="{F450FCAB-D2EC-E342-5B38-D6AADC11A2A1}"/>
              </a:ext>
            </a:extLst>
          </p:cNvPr>
          <p:cNvPicPr/>
          <p:nvPr/>
        </p:nvPicPr>
        <p:blipFill>
          <a:blip r:embed="rId2"/>
          <a:stretch>
            <a:fillRect/>
          </a:stretch>
        </p:blipFill>
        <p:spPr>
          <a:xfrm>
            <a:off x="11290300" y="0"/>
            <a:ext cx="901700" cy="993775"/>
          </a:xfrm>
          <a:prstGeom prst="rect">
            <a:avLst/>
          </a:prstGeom>
          <a:noFill/>
          <a:ln w="9525">
            <a:noFill/>
          </a:ln>
        </p:spPr>
      </p:pic>
      <p:pic>
        <p:nvPicPr>
          <p:cNvPr id="20486" name="Picture 5">
            <a:extLst>
              <a:ext uri="{FF2B5EF4-FFF2-40B4-BE49-F238E27FC236}">
                <a16:creationId xmlns:a16="http://schemas.microsoft.com/office/drawing/2014/main" id="{D98E45B5-333D-7953-9B20-20EE077201A6}"/>
              </a:ext>
            </a:extLst>
          </p:cNvPr>
          <p:cNvPicPr/>
          <p:nvPr/>
        </p:nvPicPr>
        <p:blipFill>
          <a:blip r:embed="rId2"/>
          <a:stretch>
            <a:fillRect/>
          </a:stretch>
        </p:blipFill>
        <p:spPr>
          <a:xfrm>
            <a:off x="11290300" y="0"/>
            <a:ext cx="901700" cy="993775"/>
          </a:xfrm>
          <a:prstGeom prst="rect">
            <a:avLst/>
          </a:prstGeom>
          <a:noFill/>
          <a:ln w="9525">
            <a:noFill/>
          </a:ln>
        </p:spPr>
      </p:pic>
      <p:sp>
        <p:nvSpPr>
          <p:cNvPr id="4" name="Rounded Rectangle 4">
            <a:extLst>
              <a:ext uri="{FF2B5EF4-FFF2-40B4-BE49-F238E27FC236}">
                <a16:creationId xmlns:a16="http://schemas.microsoft.com/office/drawing/2014/main" id="{CCC114CA-75B1-62A1-A990-03B6040CC725}"/>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a:extLst>
              <a:ext uri="{FF2B5EF4-FFF2-40B4-BE49-F238E27FC236}">
                <a16:creationId xmlns:a16="http://schemas.microsoft.com/office/drawing/2014/main" id="{808A5438-B714-5156-D5FA-9D10566F8FD8}"/>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0489" name="Picture 5">
            <a:extLst>
              <a:ext uri="{FF2B5EF4-FFF2-40B4-BE49-F238E27FC236}">
                <a16:creationId xmlns:a16="http://schemas.microsoft.com/office/drawing/2014/main" id="{A4A15741-23A4-27AA-4F89-0AA6B5672D2A}"/>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a:extLst>
              <a:ext uri="{FF2B5EF4-FFF2-40B4-BE49-F238E27FC236}">
                <a16:creationId xmlns:a16="http://schemas.microsoft.com/office/drawing/2014/main" id="{D8D010AE-90C5-66ED-B657-1C19D05C7827}"/>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7" name="TextBox 6">
            <a:extLst>
              <a:ext uri="{FF2B5EF4-FFF2-40B4-BE49-F238E27FC236}">
                <a16:creationId xmlns:a16="http://schemas.microsoft.com/office/drawing/2014/main" id="{EC7A2E35-EB67-D621-58E7-5AECE73FEC54}"/>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8DD85CD-FAA2-A402-9DF2-354E5994A191}"/>
              </a:ext>
            </a:extLst>
          </p:cNvPr>
          <p:cNvPicPr>
            <a:picLocks noChangeAspect="1"/>
          </p:cNvPicPr>
          <p:nvPr/>
        </p:nvPicPr>
        <p:blipFill>
          <a:blip r:embed="rId4"/>
          <a:stretch>
            <a:fillRect/>
          </a:stretch>
        </p:blipFill>
        <p:spPr>
          <a:xfrm>
            <a:off x="1534509" y="1174013"/>
            <a:ext cx="9107106" cy="5122748"/>
          </a:xfrm>
          <a:prstGeom prst="rect">
            <a:avLst/>
          </a:prstGeom>
        </p:spPr>
      </p:pic>
    </p:spTree>
    <p:extLst>
      <p:ext uri="{BB962C8B-B14F-4D97-AF65-F5344CB8AC3E}">
        <p14:creationId xmlns:p14="http://schemas.microsoft.com/office/powerpoint/2010/main" val="3887525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988EB-6DEC-EF43-D9D8-7F9441F73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DECBC-395F-DF57-662B-5BA4B2325203}"/>
              </a:ext>
            </a:extLst>
          </p:cNvPr>
          <p:cNvSpPr>
            <a:spLocks noGrp="1"/>
          </p:cNvSpPr>
          <p:nvPr>
            <p:ph type="title"/>
          </p:nvPr>
        </p:nvSpPr>
        <p:spPr>
          <a:xfrm>
            <a:off x="838200" y="457200"/>
            <a:ext cx="3633216" cy="6492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89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Conclusion</a:t>
            </a:r>
          </a:p>
        </p:txBody>
      </p:sp>
      <p:sp>
        <p:nvSpPr>
          <p:cNvPr id="7172" name="Slide Number Placeholder 2">
            <a:extLst>
              <a:ext uri="{FF2B5EF4-FFF2-40B4-BE49-F238E27FC236}">
                <a16:creationId xmlns:a16="http://schemas.microsoft.com/office/drawing/2014/main" id="{CBB7912C-80B0-9204-E47A-BD06C16CF700}"/>
              </a:ext>
            </a:extLst>
          </p:cNvPr>
          <p:cNvSpPr txBox="1">
            <a:spLocks noGrp="1"/>
          </p:cNvSpPr>
          <p:nvPr>
            <p:ph type="sldNum" sz="quarter" idx="12"/>
          </p:nvPr>
        </p:nvSpPr>
        <p:spPr>
          <a:xfrm>
            <a:off x="9248648" y="6200012"/>
            <a:ext cx="2743200" cy="365125"/>
          </a:xfrm>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23</a:t>
            </a:fld>
            <a:endParaRPr lang="en-IN" altLang="en-US" sz="1200" b="1" dirty="0">
              <a:solidFill>
                <a:srgbClr val="C00000"/>
              </a:solidFill>
            </a:endParaRPr>
          </a:p>
        </p:txBody>
      </p:sp>
      <p:pic>
        <p:nvPicPr>
          <p:cNvPr id="7173" name="Picture 5">
            <a:extLst>
              <a:ext uri="{FF2B5EF4-FFF2-40B4-BE49-F238E27FC236}">
                <a16:creationId xmlns:a16="http://schemas.microsoft.com/office/drawing/2014/main" id="{F1D6185B-2563-8272-EC44-C014CB834B4F}"/>
              </a:ext>
            </a:extLst>
          </p:cNvPr>
          <p:cNvPicPr/>
          <p:nvPr/>
        </p:nvPicPr>
        <p:blipFill>
          <a:blip r:embed="rId2"/>
          <a:stretch>
            <a:fillRect/>
          </a:stretch>
        </p:blipFill>
        <p:spPr>
          <a:xfrm>
            <a:off x="11290300" y="0"/>
            <a:ext cx="901700" cy="993775"/>
          </a:xfrm>
          <a:prstGeom prst="rect">
            <a:avLst/>
          </a:prstGeom>
          <a:noFill/>
          <a:ln w="9525">
            <a:noFill/>
          </a:ln>
        </p:spPr>
      </p:pic>
      <p:pic>
        <p:nvPicPr>
          <p:cNvPr id="7174" name="Picture 5">
            <a:extLst>
              <a:ext uri="{FF2B5EF4-FFF2-40B4-BE49-F238E27FC236}">
                <a16:creationId xmlns:a16="http://schemas.microsoft.com/office/drawing/2014/main" id="{D37F7F3C-5BD0-40AA-DAE9-127A05572A7C}"/>
              </a:ext>
            </a:extLst>
          </p:cNvPr>
          <p:cNvPicPr/>
          <p:nvPr/>
        </p:nvPicPr>
        <p:blipFill>
          <a:blip r:embed="rId2"/>
          <a:stretch>
            <a:fillRect/>
          </a:stretch>
        </p:blipFill>
        <p:spPr>
          <a:xfrm>
            <a:off x="11290300" y="0"/>
            <a:ext cx="901700" cy="993775"/>
          </a:xfrm>
          <a:prstGeom prst="rect">
            <a:avLst/>
          </a:prstGeom>
          <a:noFill/>
          <a:ln w="9525">
            <a:noFill/>
          </a:ln>
        </p:spPr>
      </p:pic>
      <p:sp>
        <p:nvSpPr>
          <p:cNvPr id="11" name="Rounded Rectangle 4">
            <a:extLst>
              <a:ext uri="{FF2B5EF4-FFF2-40B4-BE49-F238E27FC236}">
                <a16:creationId xmlns:a16="http://schemas.microsoft.com/office/drawing/2014/main" id="{BE4DC814-984A-2862-355E-69A7D107BEA7}"/>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2" name="Rectangle 11">
            <a:extLst>
              <a:ext uri="{FF2B5EF4-FFF2-40B4-BE49-F238E27FC236}">
                <a16:creationId xmlns:a16="http://schemas.microsoft.com/office/drawing/2014/main" id="{F9051CEB-39FB-FB4F-EE7D-30E70487FD14}"/>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177" name="Picture 12">
            <a:extLst>
              <a:ext uri="{FF2B5EF4-FFF2-40B4-BE49-F238E27FC236}">
                <a16:creationId xmlns:a16="http://schemas.microsoft.com/office/drawing/2014/main" id="{9E39ACA8-19F7-D52D-087C-153011C8626F}"/>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3" name="Rounded Rectangle 4">
            <a:extLst>
              <a:ext uri="{FF2B5EF4-FFF2-40B4-BE49-F238E27FC236}">
                <a16:creationId xmlns:a16="http://schemas.microsoft.com/office/drawing/2014/main" id="{6FB65D77-4521-F6E5-200F-652E6B82FBE8}"/>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4" name="TextBox 3">
            <a:extLst>
              <a:ext uri="{FF2B5EF4-FFF2-40B4-BE49-F238E27FC236}">
                <a16:creationId xmlns:a16="http://schemas.microsoft.com/office/drawing/2014/main" id="{8E109634-DE88-A1B6-63CE-D09170861BA2}"/>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2CDDE26C-3265-FE87-C4E7-F8BF1CCFD5A4}"/>
              </a:ext>
            </a:extLst>
          </p:cNvPr>
          <p:cNvSpPr>
            <a:spLocks noGrp="1"/>
          </p:cNvSpPr>
          <p:nvPr>
            <p:ph idx="1"/>
          </p:nvPr>
        </p:nvSpPr>
        <p:spPr>
          <a:xfrm>
            <a:off x="795673" y="1106489"/>
            <a:ext cx="10742277" cy="5458648"/>
          </a:xfrm>
        </p:spPr>
        <p:txBody>
          <a:bodyPr>
            <a:normAutofit/>
          </a:bodyPr>
          <a:lstStyle/>
          <a:p>
            <a:pPr marL="0" indent="0" algn="just">
              <a:lnSpc>
                <a:spcPct val="120000"/>
              </a:lnSpc>
              <a:buNone/>
            </a:pPr>
            <a:r>
              <a:rPr lang="en-US" sz="2000" dirty="0"/>
              <a:t>In conclusion, this project successfully demonstrates the design and implementation of a fully local Multi-Source Intelligent RAG System Using Local LLMs, capable of ingesting and reasoning over PDF, DOCX, TXT, web, and YouTube content without depending on any cloud service. By integrating </a:t>
            </a:r>
            <a:r>
              <a:rPr lang="en-US" sz="2000" dirty="0" err="1"/>
              <a:t>LangChain</a:t>
            </a:r>
            <a:r>
              <a:rPr lang="en-US" sz="2000" dirty="0"/>
              <a:t> for orchestration, </a:t>
            </a:r>
            <a:r>
              <a:rPr lang="en-US" sz="2000" dirty="0" err="1"/>
              <a:t>ChromaDB</a:t>
            </a:r>
            <a:r>
              <a:rPr lang="en-US" sz="2000" dirty="0"/>
              <a:t> for vector storage, </a:t>
            </a:r>
            <a:r>
              <a:rPr lang="en-US" sz="2000" dirty="0" err="1"/>
              <a:t>HuggingFace</a:t>
            </a:r>
            <a:r>
              <a:rPr lang="en-US" sz="2000" dirty="0"/>
              <a:t> all-MiniLM-L6-v2 for embeddings, and </a:t>
            </a:r>
            <a:r>
              <a:rPr lang="en-US" sz="2000" dirty="0" err="1"/>
              <a:t>Ollama</a:t>
            </a:r>
            <a:r>
              <a:rPr lang="en-US" sz="2000" dirty="0"/>
              <a:t> with llama3.2 for on-device generation, the system achieves accurate, private, and source-attributed  question answering. The use of MMR retrieval ensures contextual diversity, while the </a:t>
            </a:r>
            <a:r>
              <a:rPr lang="en-US" sz="2000" dirty="0" err="1"/>
              <a:t>FastAPI</a:t>
            </a:r>
            <a:r>
              <a:rPr lang="en-US" sz="2000" dirty="0"/>
              <a:t> +</a:t>
            </a:r>
            <a:r>
              <a:rPr lang="en-US" sz="2000" dirty="0" err="1"/>
              <a:t>Streamlit</a:t>
            </a:r>
            <a:r>
              <a:rPr lang="en-US" sz="2000" dirty="0"/>
              <a:t> stack provides a smooth real-time user experience for uploading documents and querying knowledge in natural language. The integrated LLM-as-a-judge evaluation module further validates the system's faithfulness, answer relevance, and context relevance, confirming the reliability of generated responses. Overall, this work highlights how privacy-preserving, offline RAG architectures can rival cloud-based solutions in usability and accuracy, offering a scalable and cost-free framework suitable for academic research, enterprise knowledge management, and personal productivity. The project reinforces the growing importance of local LLM ecosystems in building intelligent, trustworthy, and user-controlled AI applications.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000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526F1-F5C9-0C2E-B2CB-43BFBC957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444C0-915E-5C38-45B2-EAD9E7DD2071}"/>
              </a:ext>
            </a:extLst>
          </p:cNvPr>
          <p:cNvSpPr>
            <a:spLocks noGrp="1"/>
          </p:cNvSpPr>
          <p:nvPr>
            <p:ph type="title"/>
          </p:nvPr>
        </p:nvSpPr>
        <p:spPr>
          <a:xfrm>
            <a:off x="838200" y="457200"/>
            <a:ext cx="10515600" cy="649288"/>
          </a:xfrm>
        </p:spPr>
        <p:txBody>
          <a:bodyPr vert="horz" wrap="square" lIns="91440" tIns="45720" rIns="91440" bIns="45720" numCol="1" rtlCol="0" anchor="ctr" anchorCtr="0" compatLnSpc="1">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IN" sz="4890" b="1" i="0" u="none" strike="noStrike" kern="1200" cap="none" spc="0" normalizeH="0" baseline="0" noProof="0" dirty="0">
                <a:ln>
                  <a:noFill/>
                </a:ln>
                <a:solidFill>
                  <a:srgbClr val="00B0F0"/>
                </a:solidFill>
                <a:effectLst/>
                <a:uLnTx/>
                <a:uFillTx/>
                <a:latin typeface="Times New Roman" panose="02020603050405020304" pitchFamily="18" charset="0"/>
                <a:ea typeface="+mj-ea"/>
                <a:cs typeface="Times New Roman" panose="02020603050405020304" pitchFamily="18" charset="0"/>
              </a:rPr>
              <a:t>References</a:t>
            </a:r>
          </a:p>
        </p:txBody>
      </p:sp>
      <p:sp>
        <p:nvSpPr>
          <p:cNvPr id="7172" name="Slide Number Placeholder 2">
            <a:extLst>
              <a:ext uri="{FF2B5EF4-FFF2-40B4-BE49-F238E27FC236}">
                <a16:creationId xmlns:a16="http://schemas.microsoft.com/office/drawing/2014/main" id="{3A60253B-3EC2-826D-2193-7E62775437C1}"/>
              </a:ext>
            </a:extLst>
          </p:cNvPr>
          <p:cNvSpPr txBox="1">
            <a:spLocks noGrp="1"/>
          </p:cNvSpPr>
          <p:nvPr>
            <p:ph type="sldNum" sz="quarter" idx="12"/>
          </p:nvPr>
        </p:nvSpPr>
        <p:spPr>
          <a:xfrm>
            <a:off x="9248648" y="6200012"/>
            <a:ext cx="2743200" cy="365125"/>
          </a:xfrm>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24</a:t>
            </a:fld>
            <a:endParaRPr lang="en-IN" altLang="en-US" sz="1200" b="1" dirty="0">
              <a:solidFill>
                <a:srgbClr val="C00000"/>
              </a:solidFill>
            </a:endParaRPr>
          </a:p>
        </p:txBody>
      </p:sp>
      <p:pic>
        <p:nvPicPr>
          <p:cNvPr id="7173" name="Picture 5">
            <a:extLst>
              <a:ext uri="{FF2B5EF4-FFF2-40B4-BE49-F238E27FC236}">
                <a16:creationId xmlns:a16="http://schemas.microsoft.com/office/drawing/2014/main" id="{F81D5313-98A9-B7F1-7A6B-E236C5FDB186}"/>
              </a:ext>
            </a:extLst>
          </p:cNvPr>
          <p:cNvPicPr/>
          <p:nvPr/>
        </p:nvPicPr>
        <p:blipFill>
          <a:blip r:embed="rId2"/>
          <a:stretch>
            <a:fillRect/>
          </a:stretch>
        </p:blipFill>
        <p:spPr>
          <a:xfrm>
            <a:off x="11290300" y="0"/>
            <a:ext cx="901700" cy="993775"/>
          </a:xfrm>
          <a:prstGeom prst="rect">
            <a:avLst/>
          </a:prstGeom>
          <a:noFill/>
          <a:ln w="9525">
            <a:noFill/>
          </a:ln>
        </p:spPr>
      </p:pic>
      <p:pic>
        <p:nvPicPr>
          <p:cNvPr id="7174" name="Picture 5">
            <a:extLst>
              <a:ext uri="{FF2B5EF4-FFF2-40B4-BE49-F238E27FC236}">
                <a16:creationId xmlns:a16="http://schemas.microsoft.com/office/drawing/2014/main" id="{F0FDD62A-DBF2-C0B0-8C32-AB83E03C5D0A}"/>
              </a:ext>
            </a:extLst>
          </p:cNvPr>
          <p:cNvPicPr/>
          <p:nvPr/>
        </p:nvPicPr>
        <p:blipFill>
          <a:blip r:embed="rId2"/>
          <a:stretch>
            <a:fillRect/>
          </a:stretch>
        </p:blipFill>
        <p:spPr>
          <a:xfrm>
            <a:off x="11290300" y="0"/>
            <a:ext cx="901700" cy="993775"/>
          </a:xfrm>
          <a:prstGeom prst="rect">
            <a:avLst/>
          </a:prstGeom>
          <a:noFill/>
          <a:ln w="9525">
            <a:noFill/>
          </a:ln>
        </p:spPr>
      </p:pic>
      <p:sp>
        <p:nvSpPr>
          <p:cNvPr id="11" name="Rounded Rectangle 4">
            <a:extLst>
              <a:ext uri="{FF2B5EF4-FFF2-40B4-BE49-F238E27FC236}">
                <a16:creationId xmlns:a16="http://schemas.microsoft.com/office/drawing/2014/main" id="{C890AF57-B4A8-F9E0-53A4-B1548524392B}"/>
              </a:ext>
            </a:extLst>
          </p:cNvPr>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2" name="Rectangle 11">
            <a:extLst>
              <a:ext uri="{FF2B5EF4-FFF2-40B4-BE49-F238E27FC236}">
                <a16:creationId xmlns:a16="http://schemas.microsoft.com/office/drawing/2014/main" id="{94DA3017-BD54-323F-2B82-A831E640D8FE}"/>
              </a:ext>
            </a:extLst>
          </p:cNvPr>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7177" name="Picture 12">
            <a:extLst>
              <a:ext uri="{FF2B5EF4-FFF2-40B4-BE49-F238E27FC236}">
                <a16:creationId xmlns:a16="http://schemas.microsoft.com/office/drawing/2014/main" id="{2DB6ED74-F073-A5FF-087D-538D681DBB9D}"/>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3" name="Rounded Rectangle 4">
            <a:extLst>
              <a:ext uri="{FF2B5EF4-FFF2-40B4-BE49-F238E27FC236}">
                <a16:creationId xmlns:a16="http://schemas.microsoft.com/office/drawing/2014/main" id="{6510DDC0-5AD3-86BE-12EA-C279352E7E92}"/>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4" name="TextBox 3">
            <a:extLst>
              <a:ext uri="{FF2B5EF4-FFF2-40B4-BE49-F238E27FC236}">
                <a16:creationId xmlns:a16="http://schemas.microsoft.com/office/drawing/2014/main" id="{18802D71-F53C-120C-4B66-A13E9E9A9846}"/>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541A99A3-CE4C-E6F7-082E-0FAA4BE26E25}"/>
              </a:ext>
            </a:extLst>
          </p:cNvPr>
          <p:cNvSpPr>
            <a:spLocks noGrp="1"/>
          </p:cNvSpPr>
          <p:nvPr>
            <p:ph idx="1"/>
          </p:nvPr>
        </p:nvSpPr>
        <p:spPr>
          <a:xfrm>
            <a:off x="838200" y="1340249"/>
            <a:ext cx="10829544" cy="4554200"/>
          </a:xfrm>
        </p:spPr>
        <p:txBody>
          <a:bodyPr>
            <a:normAutofit/>
          </a:bodyPr>
          <a:lstStyle/>
          <a:p>
            <a:pPr marL="342900" marR="113030" lvl="0" indent="-342900" algn="just">
              <a:lnSpc>
                <a:spcPct val="150000"/>
              </a:lnSpc>
              <a:spcBef>
                <a:spcPts val="1195"/>
              </a:spcBef>
              <a:buSzPts val="1200"/>
              <a:buFont typeface="Times New Roman" panose="02020603050405020304" pitchFamily="18" charset="0"/>
              <a:buAutoNum type="arabicPeriod"/>
              <a:tabLst>
                <a:tab pos="518160" algn="l"/>
              </a:tabLst>
            </a:pPr>
            <a:r>
              <a:rPr lang="en-US" sz="1700" spc="0" dirty="0">
                <a:effectLst/>
                <a:latin typeface="Times New Roman" panose="02020603050405020304" pitchFamily="18" charset="0"/>
                <a:ea typeface="Times New Roman" panose="02020603050405020304" pitchFamily="18" charset="0"/>
              </a:rPr>
              <a:t> Lewis, P., Perez, E., </a:t>
            </a:r>
            <a:r>
              <a:rPr lang="en-US" sz="1700" spc="0" dirty="0" err="1">
                <a:effectLst/>
                <a:latin typeface="Times New Roman" panose="02020603050405020304" pitchFamily="18" charset="0"/>
                <a:ea typeface="Times New Roman" panose="02020603050405020304" pitchFamily="18" charset="0"/>
              </a:rPr>
              <a:t>Piktus</a:t>
            </a:r>
            <a:r>
              <a:rPr lang="en-US" sz="1700" spc="0" dirty="0">
                <a:effectLst/>
                <a:latin typeface="Times New Roman" panose="02020603050405020304" pitchFamily="18" charset="0"/>
                <a:ea typeface="Times New Roman" panose="02020603050405020304" pitchFamily="18" charset="0"/>
              </a:rPr>
              <a:t>, A., Petroni, F., </a:t>
            </a:r>
            <a:r>
              <a:rPr lang="en-US" sz="1700" spc="0" dirty="0" err="1">
                <a:effectLst/>
                <a:latin typeface="Times New Roman" panose="02020603050405020304" pitchFamily="18" charset="0"/>
                <a:ea typeface="Times New Roman" panose="02020603050405020304" pitchFamily="18" charset="0"/>
              </a:rPr>
              <a:t>Karpukhin</a:t>
            </a:r>
            <a:r>
              <a:rPr lang="en-US" sz="1700" spc="0" dirty="0">
                <a:effectLst/>
                <a:latin typeface="Times New Roman" panose="02020603050405020304" pitchFamily="18" charset="0"/>
                <a:ea typeface="Times New Roman" panose="02020603050405020304" pitchFamily="18" charset="0"/>
              </a:rPr>
              <a:t>, V., Goyal, N., ... &amp; Kiela, D. (2020). Retrieval-Augmented Generation for Knowledge-Intensive NLP Tasks. Advances in Neural Information Processing Systems, 33, 9459-9474.</a:t>
            </a:r>
            <a:endParaRPr lang="en-IN" sz="1700" spc="0" dirty="0">
              <a:effectLst/>
              <a:latin typeface="Times New Roman" panose="02020603050405020304" pitchFamily="18" charset="0"/>
              <a:ea typeface="Times New Roman" panose="02020603050405020304" pitchFamily="18" charset="0"/>
            </a:endParaRPr>
          </a:p>
          <a:p>
            <a:pPr marL="342900" lvl="0" indent="-342900">
              <a:lnSpc>
                <a:spcPct val="150000"/>
              </a:lnSpc>
              <a:spcBef>
                <a:spcPts val="685"/>
              </a:spcBef>
              <a:buSzPts val="1200"/>
              <a:buFont typeface="Times New Roman" panose="02020603050405020304" pitchFamily="18" charset="0"/>
              <a:buAutoNum type="arabicPeriod"/>
            </a:pPr>
            <a:r>
              <a:rPr lang="en-US" sz="1700" spc="0" dirty="0">
                <a:effectLst/>
                <a:latin typeface="Times New Roman" panose="02020603050405020304" pitchFamily="18" charset="0"/>
                <a:ea typeface="Times New Roman" panose="02020603050405020304" pitchFamily="18" charset="0"/>
              </a:rPr>
              <a:t>  Reimers, N., &amp; </a:t>
            </a:r>
            <a:r>
              <a:rPr lang="en-US" sz="1700" spc="0" dirty="0" err="1">
                <a:effectLst/>
                <a:latin typeface="Times New Roman" panose="02020603050405020304" pitchFamily="18" charset="0"/>
                <a:ea typeface="Times New Roman" panose="02020603050405020304" pitchFamily="18" charset="0"/>
              </a:rPr>
              <a:t>Gurevych</a:t>
            </a:r>
            <a:r>
              <a:rPr lang="en-US" sz="1700" spc="0" dirty="0">
                <a:effectLst/>
                <a:latin typeface="Times New Roman" panose="02020603050405020304" pitchFamily="18" charset="0"/>
                <a:ea typeface="Times New Roman" panose="02020603050405020304" pitchFamily="18" charset="0"/>
              </a:rPr>
              <a:t>, I. (2019). Sentence-BERT: Sentence Embeddings using Siamese BERT-Networks. Proceedings of EMNLP-IJCNLP 2019.</a:t>
            </a:r>
            <a:endParaRPr lang="en-IN" sz="1700" spc="0" dirty="0">
              <a:effectLst/>
              <a:latin typeface="Times New Roman" panose="02020603050405020304" pitchFamily="18" charset="0"/>
              <a:ea typeface="Times New Roman" panose="02020603050405020304" pitchFamily="18" charset="0"/>
            </a:endParaRPr>
          </a:p>
          <a:p>
            <a:pPr marL="342900" lvl="0" indent="-342900">
              <a:lnSpc>
                <a:spcPct val="150000"/>
              </a:lnSpc>
              <a:spcBef>
                <a:spcPts val="685"/>
              </a:spcBef>
              <a:buSzPts val="1200"/>
              <a:buFont typeface="Times New Roman" panose="02020603050405020304" pitchFamily="18" charset="0"/>
              <a:buAutoNum type="arabicPeriod"/>
            </a:pPr>
            <a:r>
              <a:rPr lang="en-US" sz="1700" spc="0" dirty="0">
                <a:effectLst/>
                <a:latin typeface="Times New Roman" panose="02020603050405020304" pitchFamily="18" charset="0"/>
                <a:ea typeface="Times New Roman" panose="02020603050405020304" pitchFamily="18" charset="0"/>
              </a:rPr>
              <a:t>  </a:t>
            </a:r>
            <a:r>
              <a:rPr lang="en-US" sz="1700" spc="0" dirty="0" err="1">
                <a:effectLst/>
                <a:latin typeface="Times New Roman" panose="02020603050405020304" pitchFamily="18" charset="0"/>
                <a:ea typeface="Times New Roman" panose="02020603050405020304" pitchFamily="18" charset="0"/>
              </a:rPr>
              <a:t>LangChain</a:t>
            </a:r>
            <a:r>
              <a:rPr lang="en-US" sz="1700" spc="0" dirty="0">
                <a:effectLst/>
                <a:latin typeface="Times New Roman" panose="02020603050405020304" pitchFamily="18" charset="0"/>
                <a:ea typeface="Times New Roman" panose="02020603050405020304" pitchFamily="18" charset="0"/>
              </a:rPr>
              <a:t> Documentation. Available at: https://python.langchain.com/docs/</a:t>
            </a:r>
            <a:endParaRPr lang="en-IN" sz="1700" spc="0" dirty="0">
              <a:effectLst/>
              <a:latin typeface="Times New Roman" panose="02020603050405020304" pitchFamily="18" charset="0"/>
              <a:ea typeface="Times New Roman" panose="02020603050405020304" pitchFamily="18" charset="0"/>
            </a:endParaRPr>
          </a:p>
          <a:p>
            <a:pPr marL="342900" lvl="0" indent="-342900">
              <a:lnSpc>
                <a:spcPct val="150000"/>
              </a:lnSpc>
              <a:spcBef>
                <a:spcPts val="685"/>
              </a:spcBef>
              <a:buSzPts val="1200"/>
              <a:buFont typeface="Times New Roman" panose="02020603050405020304" pitchFamily="18" charset="0"/>
              <a:buAutoNum type="arabicPeriod"/>
            </a:pPr>
            <a:r>
              <a:rPr lang="en-US" sz="1700" spc="0" dirty="0">
                <a:effectLst/>
                <a:latin typeface="Times New Roman" panose="02020603050405020304" pitchFamily="18" charset="0"/>
                <a:ea typeface="Times New Roman" panose="02020603050405020304" pitchFamily="18" charset="0"/>
              </a:rPr>
              <a:t>  </a:t>
            </a:r>
            <a:r>
              <a:rPr lang="en-US" sz="1700" spc="0" dirty="0" err="1">
                <a:effectLst/>
                <a:latin typeface="Times New Roman" panose="02020603050405020304" pitchFamily="18" charset="0"/>
                <a:ea typeface="Times New Roman" panose="02020603050405020304" pitchFamily="18" charset="0"/>
              </a:rPr>
              <a:t>ChromaDB</a:t>
            </a:r>
            <a:r>
              <a:rPr lang="en-US" sz="1700" spc="0" dirty="0">
                <a:effectLst/>
                <a:latin typeface="Times New Roman" panose="02020603050405020304" pitchFamily="18" charset="0"/>
                <a:ea typeface="Times New Roman" panose="02020603050405020304" pitchFamily="18" charset="0"/>
              </a:rPr>
              <a:t> Documentation. Available at: https://docs.trychroma.com/</a:t>
            </a:r>
            <a:endParaRPr lang="en-IN" sz="1700" spc="0" dirty="0">
              <a:effectLst/>
              <a:latin typeface="Times New Roman" panose="02020603050405020304" pitchFamily="18" charset="0"/>
              <a:ea typeface="Times New Roman" panose="02020603050405020304" pitchFamily="18" charset="0"/>
            </a:endParaRPr>
          </a:p>
          <a:p>
            <a:pPr marL="342900" lvl="0" indent="-342900">
              <a:lnSpc>
                <a:spcPct val="150000"/>
              </a:lnSpc>
              <a:spcBef>
                <a:spcPts val="685"/>
              </a:spcBef>
              <a:buSzPts val="1200"/>
              <a:buFont typeface="Times New Roman" panose="02020603050405020304" pitchFamily="18" charset="0"/>
              <a:buAutoNum type="arabicPeriod"/>
            </a:pPr>
            <a:r>
              <a:rPr lang="en-US" sz="1700" spc="0" dirty="0">
                <a:effectLst/>
                <a:latin typeface="Times New Roman" panose="02020603050405020304" pitchFamily="18" charset="0"/>
                <a:ea typeface="Times New Roman" panose="02020603050405020304" pitchFamily="18" charset="0"/>
              </a:rPr>
              <a:t>  </a:t>
            </a:r>
            <a:r>
              <a:rPr lang="en-US" sz="1700" spc="0" dirty="0" err="1">
                <a:effectLst/>
                <a:latin typeface="Times New Roman" panose="02020603050405020304" pitchFamily="18" charset="0"/>
                <a:ea typeface="Times New Roman" panose="02020603050405020304" pitchFamily="18" charset="0"/>
              </a:rPr>
              <a:t>Ollama</a:t>
            </a:r>
            <a:r>
              <a:rPr lang="en-US" sz="1700" spc="0" dirty="0">
                <a:effectLst/>
                <a:latin typeface="Times New Roman" panose="02020603050405020304" pitchFamily="18" charset="0"/>
                <a:ea typeface="Times New Roman" panose="02020603050405020304" pitchFamily="18" charset="0"/>
              </a:rPr>
              <a:t> Documentation. Available at: https://ollama.com/</a:t>
            </a:r>
            <a:endParaRPr lang="en-IN" sz="1700" spc="0" dirty="0">
              <a:effectLst/>
              <a:latin typeface="Times New Roman" panose="02020603050405020304" pitchFamily="18" charset="0"/>
              <a:ea typeface="Times New Roman" panose="02020603050405020304" pitchFamily="18" charset="0"/>
            </a:endParaRPr>
          </a:p>
          <a:p>
            <a:pPr marL="342900" lvl="0" indent="-342900">
              <a:lnSpc>
                <a:spcPct val="150000"/>
              </a:lnSpc>
              <a:spcBef>
                <a:spcPts val="685"/>
              </a:spcBef>
              <a:buSzPts val="1200"/>
              <a:buFont typeface="Times New Roman" panose="02020603050405020304" pitchFamily="18" charset="0"/>
              <a:buAutoNum type="arabicPeriod"/>
            </a:pPr>
            <a:r>
              <a:rPr lang="en-US" sz="1700" spc="0" dirty="0">
                <a:effectLst/>
                <a:latin typeface="Times New Roman" panose="02020603050405020304" pitchFamily="18" charset="0"/>
                <a:ea typeface="Times New Roman" panose="02020603050405020304" pitchFamily="18" charset="0"/>
              </a:rPr>
              <a:t>  Wang, L., Yang, N., Huang, X., Jiao, B., Yang, L., Jiang, D., ... &amp; Wei, F. (2023). Text  Embeddings by Weakly-Supervised Contrastive Pre-training. </a:t>
            </a:r>
            <a:r>
              <a:rPr lang="en-US" sz="1700" spc="0" dirty="0" err="1">
                <a:effectLst/>
                <a:latin typeface="Times New Roman" panose="02020603050405020304" pitchFamily="18" charset="0"/>
                <a:ea typeface="Times New Roman" panose="02020603050405020304" pitchFamily="18" charset="0"/>
              </a:rPr>
              <a:t>arXiv</a:t>
            </a:r>
            <a:r>
              <a:rPr lang="en-US" sz="1700" spc="0" dirty="0">
                <a:effectLst/>
                <a:latin typeface="Times New Roman" panose="02020603050405020304" pitchFamily="18" charset="0"/>
                <a:ea typeface="Times New Roman" panose="02020603050405020304" pitchFamily="18" charset="0"/>
              </a:rPr>
              <a:t> preprint arXiv:2212.03533.</a:t>
            </a:r>
            <a:endParaRPr lang="en-IN" sz="17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76173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838200" y="1457325"/>
            <a:ext cx="10515600" cy="1325563"/>
          </a:xfrm>
        </p:spPr>
        <p:txBody>
          <a:bodyPr vert="horz" wrap="square" lIns="91440" tIns="45720" rIns="91440" bIns="45720" anchor="ctr" anchorCtr="0"/>
          <a:lstStyle/>
          <a:p>
            <a:pPr algn="ctr" eaLnBrk="1" hangingPunct="1"/>
            <a:r>
              <a:rPr lang="en-IN" altLang="en-US" b="1" dirty="0">
                <a:solidFill>
                  <a:srgbClr val="00B0F0"/>
                </a:solidFill>
                <a:latin typeface="Times New Roman" panose="02020603050405020304" pitchFamily="18" charset="0"/>
              </a:rPr>
              <a:t>Thank you</a:t>
            </a:r>
          </a:p>
        </p:txBody>
      </p:sp>
      <p:sp>
        <p:nvSpPr>
          <p:cNvPr id="21507" name="Content Placeholder 2"/>
          <p:cNvSpPr>
            <a:spLocks noGrp="1"/>
          </p:cNvSpPr>
          <p:nvPr>
            <p:ph idx="1"/>
          </p:nvPr>
        </p:nvSpPr>
        <p:spPr>
          <a:xfrm>
            <a:off x="838200" y="3255168"/>
            <a:ext cx="10666580" cy="2265363"/>
          </a:xfrm>
        </p:spPr>
        <p:txBody>
          <a:bodyPr vert="horz" wrap="square" lIns="91440" tIns="45720" rIns="91440" bIns="45720" anchor="t" anchorCtr="0"/>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defRPr/>
            </a:pPr>
            <a:r>
              <a:rPr kumimoji="0" lang="en-US" altLang="en-IN" sz="2800" b="1" i="0" u="none" strike="noStrike" kern="1200" cap="none" spc="0" normalizeH="0" baseline="0" noProof="0" dirty="0">
                <a:ln>
                  <a:noFill/>
                </a:ln>
                <a:solidFill>
                  <a:schemeClr val="tx1"/>
                </a:solidFill>
                <a:effectLst/>
                <a:uLnTx/>
                <a:uFillTx/>
                <a:latin typeface="+mn-lt"/>
                <a:ea typeface="+mn-ea"/>
                <a:cs typeface="+mn-cs"/>
              </a:rPr>
              <a:t>1.</a:t>
            </a:r>
            <a:r>
              <a:rPr lang="en-US" altLang="en-IN" b="1" dirty="0"/>
              <a:t>R. Koushik       </a:t>
            </a:r>
            <a:r>
              <a:rPr kumimoji="0" lang="en-IN" altLang="en-US" sz="2800" b="1" i="0" u="none" strike="noStrike" kern="1200" cap="none" spc="0" normalizeH="0" baseline="0" noProof="0" dirty="0">
                <a:ln>
                  <a:noFill/>
                </a:ln>
                <a:solidFill>
                  <a:schemeClr val="tx1"/>
                </a:solidFill>
                <a:effectLst/>
                <a:uLnTx/>
                <a:uFillTx/>
                <a:latin typeface="+mn-lt"/>
                <a:ea typeface="+mn-ea"/>
                <a:cs typeface="+mn-cs"/>
              </a:rPr>
              <a:t>–2</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2</a:t>
            </a:r>
            <a:r>
              <a:rPr kumimoji="0" lang="en-IN" altLang="en-US" sz="2800" b="1" i="0" u="none" strike="noStrike" kern="1200" cap="none" spc="0" normalizeH="0" baseline="0" noProof="0" dirty="0">
                <a:ln>
                  <a:noFill/>
                </a:ln>
                <a:solidFill>
                  <a:schemeClr val="tx1"/>
                </a:solidFill>
                <a:effectLst/>
                <a:uLnTx/>
                <a:uFillTx/>
                <a:latin typeface="+mn-lt"/>
                <a:ea typeface="+mn-ea"/>
                <a:cs typeface="+mn-cs"/>
              </a:rPr>
              <a:t>N31A</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66F3</a:t>
            </a:r>
            <a:endParaRPr kumimoji="0" lang="en-IN" altLang="en-US" sz="28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r>
              <a:rPr kumimoji="0" lang="en-US" altLang="en-IN" sz="2800" b="1" i="0" u="none" strike="noStrike" kern="1200" cap="none" spc="0" normalizeH="0" baseline="0" noProof="0" dirty="0">
                <a:ln>
                  <a:noFill/>
                </a:ln>
                <a:solidFill>
                  <a:schemeClr val="tx1"/>
                </a:solidFill>
                <a:effectLst/>
                <a:uLnTx/>
                <a:uFillTx/>
                <a:latin typeface="+mn-lt"/>
                <a:ea typeface="+mn-ea"/>
                <a:cs typeface="+mn-cs"/>
              </a:rPr>
              <a:t>2.</a:t>
            </a:r>
            <a:r>
              <a:rPr lang="en-US" altLang="en-IN" b="1" dirty="0"/>
              <a:t>V. Sreeja </a:t>
            </a:r>
            <a:r>
              <a:rPr kumimoji="0" lang="en-IN" altLang="en-US" sz="2800" b="1" i="0" u="none" strike="noStrike" kern="1200" cap="none" spc="0" normalizeH="0" baseline="0" noProof="0" dirty="0">
                <a:ln>
                  <a:noFill/>
                </a:ln>
                <a:solidFill>
                  <a:schemeClr val="tx1"/>
                </a:solidFill>
                <a:effectLst/>
                <a:uLnTx/>
                <a:uFillTx/>
                <a:latin typeface="+mn-lt"/>
                <a:ea typeface="+mn-ea"/>
                <a:cs typeface="+mn-cs"/>
              </a:rPr>
              <a:t>         –2</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2</a:t>
            </a:r>
            <a:r>
              <a:rPr kumimoji="0" lang="en-IN" altLang="en-US" sz="2800" b="1" i="0" u="none" strike="noStrike" kern="1200" cap="none" spc="0" normalizeH="0" baseline="0" noProof="0" dirty="0">
                <a:ln>
                  <a:noFill/>
                </a:ln>
                <a:solidFill>
                  <a:schemeClr val="tx1"/>
                </a:solidFill>
                <a:effectLst/>
                <a:uLnTx/>
                <a:uFillTx/>
                <a:latin typeface="+mn-lt"/>
                <a:ea typeface="+mn-ea"/>
                <a:cs typeface="+mn-cs"/>
              </a:rPr>
              <a:t>N31A</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66J0</a:t>
            </a:r>
          </a:p>
          <a:p>
            <a:pPr marL="0" marR="0" lvl="0" indent="0" algn="ctr" defTabSz="914400" rtl="0" eaLnBrk="1" fontAlgn="base" latinLnBrk="0" hangingPunct="1">
              <a:lnSpc>
                <a:spcPct val="50000"/>
              </a:lnSpc>
              <a:spcBef>
                <a:spcPts val="1000"/>
              </a:spcBef>
              <a:spcAft>
                <a:spcPct val="0"/>
              </a:spcAft>
              <a:buClrTx/>
              <a:buSzTx/>
              <a:buFont typeface="Calibri Light" panose="020F0302020204030204" pitchFamily="34" charset="0"/>
              <a:buNone/>
              <a:defRPr/>
            </a:pPr>
            <a:r>
              <a:rPr kumimoji="0" lang="en-US" altLang="en-IN" sz="2800" b="1" i="0" u="none" strike="noStrike" kern="1200" cap="none" spc="0" normalizeH="0" baseline="0" noProof="0" dirty="0">
                <a:ln>
                  <a:noFill/>
                </a:ln>
                <a:solidFill>
                  <a:schemeClr val="tx1"/>
                </a:solidFill>
                <a:effectLst/>
                <a:uLnTx/>
                <a:uFillTx/>
                <a:latin typeface="+mn-lt"/>
                <a:ea typeface="+mn-ea"/>
                <a:cs typeface="+mn-cs"/>
              </a:rPr>
              <a:t>3.</a:t>
            </a:r>
            <a:r>
              <a:rPr lang="en-US" altLang="en-IN" b="1" dirty="0"/>
              <a:t>S. Vennela     </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  </a:t>
            </a:r>
            <a:r>
              <a:rPr kumimoji="0" lang="en-IN" altLang="en-US" sz="2800" b="1" i="0" u="none" strike="noStrike" kern="1200" cap="none" spc="0" normalizeH="0" baseline="0" noProof="0" dirty="0">
                <a:ln>
                  <a:noFill/>
                </a:ln>
                <a:solidFill>
                  <a:schemeClr val="tx1"/>
                </a:solidFill>
                <a:effectLst/>
                <a:uLnTx/>
                <a:uFillTx/>
                <a:latin typeface="+mn-lt"/>
                <a:ea typeface="+mn-ea"/>
                <a:cs typeface="+mn-cs"/>
              </a:rPr>
              <a:t>–2</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2</a:t>
            </a:r>
            <a:r>
              <a:rPr kumimoji="0" lang="en-IN" altLang="en-US" sz="2800" b="1" i="0" u="none" strike="noStrike" kern="1200" cap="none" spc="0" normalizeH="0" baseline="0" noProof="0" dirty="0">
                <a:ln>
                  <a:noFill/>
                </a:ln>
                <a:solidFill>
                  <a:schemeClr val="tx1"/>
                </a:solidFill>
                <a:effectLst/>
                <a:uLnTx/>
                <a:uFillTx/>
                <a:latin typeface="+mn-lt"/>
                <a:ea typeface="+mn-ea"/>
                <a:cs typeface="+mn-cs"/>
              </a:rPr>
              <a:t>N31A</a:t>
            </a:r>
            <a:r>
              <a:rPr kumimoji="0" lang="en-US" altLang="en-IN" sz="2800" b="1" i="0" u="none" strike="noStrike" kern="1200" cap="none" spc="0" normalizeH="0" baseline="0" noProof="0" dirty="0">
                <a:ln>
                  <a:noFill/>
                </a:ln>
                <a:solidFill>
                  <a:schemeClr val="tx1"/>
                </a:solidFill>
                <a:effectLst/>
                <a:uLnTx/>
                <a:uFillTx/>
                <a:latin typeface="+mn-lt"/>
                <a:ea typeface="+mn-ea"/>
                <a:cs typeface="+mn-cs"/>
              </a:rPr>
              <a:t>66J4</a:t>
            </a:r>
          </a:p>
          <a:p>
            <a:pPr marL="0" indent="0" algn="ctr" eaLnBrk="1" hangingPunct="1">
              <a:lnSpc>
                <a:spcPct val="50000"/>
              </a:lnSpc>
              <a:buNone/>
              <a:defRPr/>
            </a:pPr>
            <a:r>
              <a:rPr lang="en-US" altLang="en-IN" b="1" dirty="0"/>
              <a:t>                         	</a:t>
            </a:r>
            <a:endParaRPr kumimoji="0" lang="en-US" altLang="en-IN" sz="2800" b="1" i="0" u="none" strike="noStrike" kern="1200" cap="none" spc="0" normalizeH="0" baseline="0" noProof="0" dirty="0">
              <a:ln>
                <a:noFill/>
              </a:ln>
              <a:solidFill>
                <a:schemeClr val="tx1"/>
              </a:solidFill>
              <a:effectLst/>
              <a:uLnTx/>
              <a:uFillTx/>
              <a:latin typeface="+mn-lt"/>
              <a:ea typeface="+mn-ea"/>
              <a:cs typeface="+mn-cs"/>
            </a:endParaRPr>
          </a:p>
        </p:txBody>
      </p:sp>
      <p:sp>
        <p:nvSpPr>
          <p:cNvPr id="21508" name="Slide Number Placeholder 1"/>
          <p:cNvSpPr txBox="1">
            <a:spLocks noGrp="1"/>
          </p:cNvSpPr>
          <p:nvPr>
            <p:ph type="sldNum" sz="quarter" idx="12"/>
          </p:nvPr>
        </p:nvSpPr>
        <p:spPr>
          <a:noFill/>
          <a:ln>
            <a:noFill/>
          </a:ln>
        </p:spPr>
        <p:txBody>
          <a:bodyPr anchor="ctr" anchorCtr="0"/>
          <a:lstStyle/>
          <a:p>
            <a:pPr marL="0" indent="0" algn="r" eaLnBrk="1" hangingPunct="1">
              <a:lnSpc>
                <a:spcPct val="100000"/>
              </a:lnSpc>
              <a:spcBef>
                <a:spcPct val="0"/>
              </a:spcBef>
              <a:buFontTx/>
              <a:buNone/>
            </a:pPr>
            <a:fld id="{9A0DB2DC-4C9A-4742-B13C-FB6460FD3503}" type="slidenum">
              <a:rPr lang="en-IN" altLang="en-US" sz="1200" b="1" dirty="0">
                <a:solidFill>
                  <a:srgbClr val="C00000"/>
                </a:solidFill>
              </a:rPr>
              <a:t>25</a:t>
            </a:fld>
            <a:endParaRPr lang="en-IN" altLang="en-US" sz="1200" b="1" dirty="0">
              <a:solidFill>
                <a:srgbClr val="C00000"/>
              </a:solidFill>
            </a:endParaRPr>
          </a:p>
        </p:txBody>
      </p:sp>
      <p:pic>
        <p:nvPicPr>
          <p:cNvPr id="21509" name="Picture 5"/>
          <p:cNvPicPr/>
          <p:nvPr/>
        </p:nvPicPr>
        <p:blipFill>
          <a:blip r:embed="rId2"/>
          <a:stretch>
            <a:fillRect/>
          </a:stretch>
        </p:blipFill>
        <p:spPr>
          <a:xfrm>
            <a:off x="11290300" y="0"/>
            <a:ext cx="901700" cy="993775"/>
          </a:xfrm>
          <a:prstGeom prst="rect">
            <a:avLst/>
          </a:prstGeom>
          <a:noFill/>
          <a:ln w="9525">
            <a:noFill/>
          </a:ln>
        </p:spPr>
      </p:pic>
      <p:pic>
        <p:nvPicPr>
          <p:cNvPr id="21510" name="Picture 5"/>
          <p:cNvPicPr/>
          <p:nvPr/>
        </p:nvPicPr>
        <p:blipFill>
          <a:blip r:embed="rId2"/>
          <a:stretch>
            <a:fillRect/>
          </a:stretch>
        </p:blipFill>
        <p:spPr>
          <a:xfrm>
            <a:off x="11290300" y="0"/>
            <a:ext cx="901700" cy="993775"/>
          </a:xfrm>
          <a:prstGeom prst="rect">
            <a:avLst/>
          </a:prstGeom>
          <a:noFill/>
          <a:ln w="9525">
            <a:noFill/>
          </a:ln>
        </p:spPr>
      </p:pic>
      <p:sp>
        <p:nvSpPr>
          <p:cNvPr id="4" name="Rounded Rectangle 4"/>
          <p:cNvSpPr/>
          <p:nvPr/>
        </p:nvSpPr>
        <p:spPr>
          <a:xfrm>
            <a:off x="-15875" y="-128587"/>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Rectangle 4"/>
          <p:cNvSpPr/>
          <p:nvPr/>
        </p:nvSpPr>
        <p:spPr>
          <a:xfrm>
            <a:off x="11261725" y="269875"/>
            <a:ext cx="914400" cy="723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21513" name="Picture 5"/>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2" name="Rounded Rectangle 4"/>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defRPr/>
            </a:pPr>
            <a:r>
              <a:rPr lang="en-IN" sz="1600" b="1" dirty="0" err="1">
                <a:solidFill>
                  <a:schemeClr val="tx1"/>
                </a:solidFill>
                <a:latin typeface="Arial Rounded MT Bold" pitchFamily="34" charset="0"/>
              </a:rPr>
              <a:t>B.Tech</a:t>
            </a:r>
            <a:r>
              <a:rPr lang="en-IN" sz="1600" b="1" dirty="0">
                <a:solidFill>
                  <a:schemeClr val="tx1"/>
                </a:solidFill>
                <a:latin typeface="Arial Rounded MT Bold" pitchFamily="34" charset="0"/>
              </a:rPr>
              <a:t> IV Year – II Sem | Dept of Computational Intelligence| Project Phase - II  | Project Review</a:t>
            </a:r>
          </a:p>
        </p:txBody>
      </p:sp>
      <p:sp>
        <p:nvSpPr>
          <p:cNvPr id="3" name="TextBox 2">
            <a:extLst>
              <a:ext uri="{FF2B5EF4-FFF2-40B4-BE49-F238E27FC236}">
                <a16:creationId xmlns:a16="http://schemas.microsoft.com/office/drawing/2014/main" id="{ADF568C8-1F63-3F33-C498-F08C6203D28A}"/>
              </a:ext>
            </a:extLst>
          </p:cNvPr>
          <p:cNvSpPr txBox="1"/>
          <p:nvPr/>
        </p:nvSpPr>
        <p:spPr>
          <a:xfrm>
            <a:off x="2147467" y="-97079"/>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2425</Words>
  <Application>Microsoft Office PowerPoint</Application>
  <PresentationFormat>Widescreen</PresentationFormat>
  <Paragraphs>193</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Arial Rounded MT Bold</vt:lpstr>
      <vt:lpstr>Calibri</vt:lpstr>
      <vt:lpstr>Calibri Light</vt:lpstr>
      <vt:lpstr>Cambria</vt:lpstr>
      <vt:lpstr>Times New Roman</vt:lpstr>
      <vt:lpstr>Office Theme</vt:lpstr>
      <vt:lpstr>MALLA REDDY COLLEGE OF ENGINEERING &amp; TECHNOLOGY (AUTONOMUS INSTITUTION –UGC, GOVT. OF INDIA) Affiliated to JNTUH; Approved by AICTE, NBA-Tier 1 &amp; NAAC with A-GRADE| ISO 9001:2015</vt:lpstr>
      <vt:lpstr>Agenda</vt:lpstr>
      <vt:lpstr>Abstract</vt:lpstr>
      <vt:lpstr>Introduction</vt:lpstr>
      <vt:lpstr>Existing System</vt:lpstr>
      <vt:lpstr>Drawbacks of Existing System</vt:lpstr>
      <vt:lpstr>Proposed System</vt:lpstr>
      <vt:lpstr>Advantages of Proposed System</vt:lpstr>
      <vt:lpstr>System Architecture </vt:lpstr>
      <vt:lpstr>Requirements Specification</vt:lpstr>
      <vt:lpstr>PowerPoint Presentation</vt:lpstr>
      <vt:lpstr>Hardware Requirement Specifications (HRS)</vt:lpstr>
      <vt:lpstr>System Models (UML Diagrams)         </vt:lpstr>
      <vt:lpstr>Use Case Diagram</vt:lpstr>
      <vt:lpstr>Class Diagram</vt:lpstr>
      <vt:lpstr>Sequence Diagram</vt:lpstr>
      <vt:lpstr>Activity Diagram</vt:lpstr>
      <vt:lpstr>Implementation </vt:lpstr>
      <vt:lpstr>Chat Inteface</vt:lpstr>
      <vt:lpstr>Query Response With Source Attribution</vt:lpstr>
      <vt:lpstr>Document upload and Ingestion screen</vt:lpstr>
      <vt:lpstr>About Screen</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Koushik Maharushi Ravirala</cp:lastModifiedBy>
  <cp:revision>71</cp:revision>
  <dcterms:created xsi:type="dcterms:W3CDTF">2022-09-15T14:17:00Z</dcterms:created>
  <dcterms:modified xsi:type="dcterms:W3CDTF">2026-04-08T02:05:17Z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1F789172D32144BE91813DACD04A54D5_12</vt:lpwstr>
  </property>
  <property fmtid="{D5CDD505-2E9C-101B-9397-08002B2CF9AE}" pid="3" name="KSOProductBuildVer">
    <vt:lpwstr>1033-12.2.0.19805</vt:lpwstr>
  </property>
</Properties>
</file>